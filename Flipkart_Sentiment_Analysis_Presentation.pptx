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p:spPr>
      </p:sp>
      <p:sp>
        <p:nvSpPr>
          <p:cNvPr id="3" name="Shape 1"/>
          <p:cNvSpPr/>
          <p:nvPr/>
        </p:nvSpPr>
        <p:spPr>
          <a:xfrm>
            <a:off x="0" y="0"/>
            <a:ext cx="109728" cy="5143500"/>
          </a:xfrm>
          <a:prstGeom prst="rect">
            <a:avLst/>
          </a:prstGeom>
          <a:solidFill>
            <a:srgbClr val="3B82F6"/>
          </a:solidFill>
          <a:ln/>
        </p:spPr>
      </p:sp>
      <p:sp>
        <p:nvSpPr>
          <p:cNvPr id="4" name="Text 2"/>
          <p:cNvSpPr/>
          <p:nvPr/>
        </p:nvSpPr>
        <p:spPr>
          <a:xfrm>
            <a:off x="548640" y="1280160"/>
            <a:ext cx="7772400" cy="320040"/>
          </a:xfrm>
          <a:prstGeom prst="rect">
            <a:avLst/>
          </a:prstGeom>
          <a:noFill/>
          <a:ln/>
        </p:spPr>
        <p:txBody>
          <a:bodyPr wrap="square" lIns="0" tIns="0" rIns="0" bIns="0" rtlCol="0" anchor="ctr"/>
          <a:lstStyle/>
          <a:p>
            <a:pPr indent="0" marL="0">
              <a:buNone/>
            </a:pPr>
            <a:r>
              <a:rPr lang="en-US" sz="1200" spc="200" kern="0" dirty="0">
                <a:solidFill>
                  <a:srgbClr val="3B82F6"/>
                </a:solidFill>
                <a:latin typeface="Arial" pitchFamily="34" charset="0"/>
                <a:ea typeface="Arial" pitchFamily="34" charset="-122"/>
                <a:cs typeface="Arial" pitchFamily="34" charset="-120"/>
              </a:rPr>
              <a:t>STUDENT PROJECT  ·  MACHINE LEARNING &amp; DEEP LEARNING</a:t>
            </a:r>
            <a:endParaRPr lang="en-US" sz="1200" dirty="0"/>
          </a:p>
        </p:txBody>
      </p:sp>
      <p:sp>
        <p:nvSpPr>
          <p:cNvPr id="5" name="Text 3"/>
          <p:cNvSpPr/>
          <p:nvPr/>
        </p:nvSpPr>
        <p:spPr>
          <a:xfrm>
            <a:off x="548640" y="1737360"/>
            <a:ext cx="7772400" cy="13716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Flipkart Reviews</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Sentiment Analysis</a:t>
            </a:r>
            <a:endParaRPr lang="en-US" sz="4000" dirty="0"/>
          </a:p>
        </p:txBody>
      </p:sp>
      <p:sp>
        <p:nvSpPr>
          <p:cNvPr id="6" name="Text 4"/>
          <p:cNvSpPr/>
          <p:nvPr/>
        </p:nvSpPr>
        <p:spPr>
          <a:xfrm>
            <a:off x="548640" y="3246120"/>
            <a:ext cx="77724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End-to-end NLP pipeline  ·  Traditional ML  ·  LSTM / BiLSTM  ·  Streamlit deployment</a:t>
            </a:r>
            <a:endParaRPr lang="en-US" sz="1400" dirty="0"/>
          </a:p>
        </p:txBody>
      </p:sp>
      <p:sp>
        <p:nvSpPr>
          <p:cNvPr id="7" name="Text 5"/>
          <p:cNvSpPr/>
          <p:nvPr/>
        </p:nvSpPr>
        <p:spPr>
          <a:xfrm>
            <a:off x="548640" y="3794760"/>
            <a:ext cx="7772400" cy="274320"/>
          </a:xfrm>
          <a:prstGeom prst="rect">
            <a:avLst/>
          </a:prstGeom>
          <a:noFill/>
          <a:ln/>
        </p:spPr>
        <p:txBody>
          <a:bodyPr wrap="square" lIns="0" tIns="0" rIns="0" bIns="0" rtlCol="0" anchor="ctr"/>
          <a:lstStyle/>
          <a:p>
            <a:pPr indent="0" marL="0">
              <a:buNone/>
            </a:pPr>
            <a:r>
              <a:rPr lang="en-US" sz="1300" dirty="0">
                <a:solidFill>
                  <a:srgbClr val="94A3B8"/>
                </a:solidFill>
                <a:latin typeface="Arial" pitchFamily="34" charset="0"/>
                <a:ea typeface="Arial" pitchFamily="34" charset="-122"/>
                <a:cs typeface="Arial" pitchFamily="34" charset="-120"/>
              </a:rPr>
              <a:t>30,000 reviews  ·  25 features  ·  3-class sentiment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2 / 14</a:t>
            </a:r>
            <a:endParaRPr lang="en-US" sz="1000" dirty="0"/>
          </a:p>
        </p:txBody>
      </p:sp>
      <p:sp>
        <p:nvSpPr>
          <p:cNvPr id="5" name="Text 3"/>
          <p:cNvSpPr/>
          <p:nvPr/>
        </p:nvSpPr>
        <p:spPr>
          <a:xfrm>
            <a:off x="457200" y="274320"/>
            <a:ext cx="8229600" cy="274320"/>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AGENDA</a:t>
            </a:r>
            <a:endParaRPr lang="en-US" sz="1100" dirty="0"/>
          </a:p>
        </p:txBody>
      </p:sp>
      <p:sp>
        <p:nvSpPr>
          <p:cNvPr id="6" name="Text 4"/>
          <p:cNvSpPr/>
          <p:nvPr/>
        </p:nvSpPr>
        <p:spPr>
          <a:xfrm>
            <a:off x="457200" y="548640"/>
            <a:ext cx="8229600" cy="411480"/>
          </a:xfrm>
          <a:prstGeom prst="rect">
            <a:avLst/>
          </a:prstGeom>
          <a:noFill/>
          <a:ln/>
        </p:spPr>
        <p:txBody>
          <a:bodyPr wrap="square" lIns="0" tIns="0" rIns="0" bIns="0" rtlCol="0" anchor="ctr"/>
          <a:lstStyle/>
          <a:p>
            <a:pPr indent="0" marL="0">
              <a:buNone/>
            </a:pPr>
            <a:r>
              <a:rPr lang="en-US" sz="2600" b="1" dirty="0">
                <a:solidFill>
                  <a:srgbClr val="0F172A"/>
                </a:solidFill>
                <a:latin typeface="Arial" pitchFamily="34" charset="0"/>
                <a:ea typeface="Arial" pitchFamily="34" charset="-122"/>
                <a:cs typeface="Arial" pitchFamily="34" charset="-120"/>
              </a:rPr>
              <a:t>What we will cover</a:t>
            </a:r>
            <a:endParaRPr lang="en-US" sz="2600" dirty="0"/>
          </a:p>
        </p:txBody>
      </p:sp>
      <p:sp>
        <p:nvSpPr>
          <p:cNvPr id="7" name="Text 5"/>
          <p:cNvSpPr/>
          <p:nvPr/>
        </p:nvSpPr>
        <p:spPr>
          <a:xfrm>
            <a:off x="457200" y="11430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01</a:t>
            </a:r>
            <a:endParaRPr lang="en-US" sz="1600" dirty="0"/>
          </a:p>
        </p:txBody>
      </p:sp>
      <p:sp>
        <p:nvSpPr>
          <p:cNvPr id="8" name="Text 6"/>
          <p:cNvSpPr/>
          <p:nvPr/>
        </p:nvSpPr>
        <p:spPr>
          <a:xfrm>
            <a:off x="1188720" y="11430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Problem Statement &amp; Business Need</a:t>
            </a:r>
            <a:endParaRPr lang="en-US" sz="1600" dirty="0"/>
          </a:p>
        </p:txBody>
      </p:sp>
      <p:sp>
        <p:nvSpPr>
          <p:cNvPr id="9" name="Text 7"/>
          <p:cNvSpPr/>
          <p:nvPr/>
        </p:nvSpPr>
        <p:spPr>
          <a:xfrm>
            <a:off x="457200" y="16002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02</a:t>
            </a:r>
            <a:endParaRPr lang="en-US" sz="1600" dirty="0"/>
          </a:p>
        </p:txBody>
      </p:sp>
      <p:sp>
        <p:nvSpPr>
          <p:cNvPr id="10" name="Text 8"/>
          <p:cNvSpPr/>
          <p:nvPr/>
        </p:nvSpPr>
        <p:spPr>
          <a:xfrm>
            <a:off x="1188720" y="16002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Solution Overview &amp; Objectives</a:t>
            </a:r>
            <a:endParaRPr lang="en-US" sz="1600" dirty="0"/>
          </a:p>
        </p:txBody>
      </p:sp>
      <p:sp>
        <p:nvSpPr>
          <p:cNvPr id="11" name="Text 9"/>
          <p:cNvSpPr/>
          <p:nvPr/>
        </p:nvSpPr>
        <p:spPr>
          <a:xfrm>
            <a:off x="457200" y="20574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03</a:t>
            </a:r>
            <a:endParaRPr lang="en-US" sz="1600" dirty="0"/>
          </a:p>
        </p:txBody>
      </p:sp>
      <p:sp>
        <p:nvSpPr>
          <p:cNvPr id="12" name="Text 10"/>
          <p:cNvSpPr/>
          <p:nvPr/>
        </p:nvSpPr>
        <p:spPr>
          <a:xfrm>
            <a:off x="1188720" y="20574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Dataset &amp; Tech Stack</a:t>
            </a:r>
            <a:endParaRPr lang="en-US" sz="1600" dirty="0"/>
          </a:p>
        </p:txBody>
      </p:sp>
      <p:sp>
        <p:nvSpPr>
          <p:cNvPr id="13" name="Text 11"/>
          <p:cNvSpPr/>
          <p:nvPr/>
        </p:nvSpPr>
        <p:spPr>
          <a:xfrm>
            <a:off x="457200" y="25146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04</a:t>
            </a:r>
            <a:endParaRPr lang="en-US" sz="1600" dirty="0"/>
          </a:p>
        </p:txBody>
      </p:sp>
      <p:sp>
        <p:nvSpPr>
          <p:cNvPr id="14" name="Text 12"/>
          <p:cNvSpPr/>
          <p:nvPr/>
        </p:nvSpPr>
        <p:spPr>
          <a:xfrm>
            <a:off x="1188720" y="25146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Pipeline Steps (Data → NLP → ML → DL)</a:t>
            </a:r>
            <a:endParaRPr lang="en-US" sz="1600" dirty="0"/>
          </a:p>
        </p:txBody>
      </p:sp>
      <p:sp>
        <p:nvSpPr>
          <p:cNvPr id="15" name="Text 13"/>
          <p:cNvSpPr/>
          <p:nvPr/>
        </p:nvSpPr>
        <p:spPr>
          <a:xfrm>
            <a:off x="457200" y="29718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05</a:t>
            </a:r>
            <a:endParaRPr lang="en-US" sz="1600" dirty="0"/>
          </a:p>
        </p:txBody>
      </p:sp>
      <p:sp>
        <p:nvSpPr>
          <p:cNvPr id="16" name="Text 14"/>
          <p:cNvSpPr/>
          <p:nvPr/>
        </p:nvSpPr>
        <p:spPr>
          <a:xfrm>
            <a:off x="1188720" y="29718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Observations &amp; Key Insights</a:t>
            </a:r>
            <a:endParaRPr lang="en-US" sz="1600" dirty="0"/>
          </a:p>
        </p:txBody>
      </p:sp>
      <p:sp>
        <p:nvSpPr>
          <p:cNvPr id="17" name="Text 15"/>
          <p:cNvSpPr/>
          <p:nvPr/>
        </p:nvSpPr>
        <p:spPr>
          <a:xfrm>
            <a:off x="457200" y="34290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06</a:t>
            </a:r>
            <a:endParaRPr lang="en-US" sz="1600" dirty="0"/>
          </a:p>
        </p:txBody>
      </p:sp>
      <p:sp>
        <p:nvSpPr>
          <p:cNvPr id="18" name="Text 16"/>
          <p:cNvSpPr/>
          <p:nvPr/>
        </p:nvSpPr>
        <p:spPr>
          <a:xfrm>
            <a:off x="1188720" y="34290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Model Results &amp; Comparison</a:t>
            </a:r>
            <a:endParaRPr lang="en-US" sz="1600" dirty="0"/>
          </a:p>
        </p:txBody>
      </p:sp>
      <p:sp>
        <p:nvSpPr>
          <p:cNvPr id="19" name="Text 17"/>
          <p:cNvSpPr/>
          <p:nvPr/>
        </p:nvSpPr>
        <p:spPr>
          <a:xfrm>
            <a:off x="457200" y="3886200"/>
            <a:ext cx="640080" cy="365760"/>
          </a:xfrm>
          <a:prstGeom prst="rect">
            <a:avLst/>
          </a:prstGeom>
          <a:noFill/>
          <a:ln/>
        </p:spPr>
        <p:txBody>
          <a:bodyPr wrap="square" lIns="0" tIns="0" rIns="0" bIns="0" rtlCol="0" anchor="ctr"/>
          <a:lstStyle/>
          <a:p>
            <a:pPr indent="0" marL="0">
              <a:buNone/>
            </a:pPr>
            <a:r>
              <a:rPr lang="en-US" sz="1600" b="1" dirty="0">
                <a:solidFill>
                  <a:srgbClr val="3B82F6"/>
                </a:solidFill>
                <a:latin typeface="Arial" pitchFamily="34" charset="0"/>
                <a:ea typeface="Arial" pitchFamily="34" charset="-122"/>
                <a:cs typeface="Arial" pitchFamily="34" charset="-120"/>
              </a:rPr>
              <a:t>07</a:t>
            </a:r>
            <a:endParaRPr lang="en-US" sz="1600" dirty="0"/>
          </a:p>
        </p:txBody>
      </p:sp>
      <p:sp>
        <p:nvSpPr>
          <p:cNvPr id="20" name="Text 18"/>
          <p:cNvSpPr/>
          <p:nvPr/>
        </p:nvSpPr>
        <p:spPr>
          <a:xfrm>
            <a:off x="1188720" y="3886200"/>
            <a:ext cx="6858000" cy="365760"/>
          </a:xfrm>
          <a:prstGeom prst="rect">
            <a:avLst/>
          </a:prstGeom>
          <a:noFill/>
          <a:ln/>
        </p:spPr>
        <p:txBody>
          <a:bodyPr wrap="square" lIns="0" tIns="0" rIns="0" bIns="0" rtlCol="0" anchor="ctr"/>
          <a:lstStyle/>
          <a:p>
            <a:pPr indent="0" marL="0">
              <a:buNone/>
            </a:pPr>
            <a:r>
              <a:rPr lang="en-US" sz="1600" dirty="0">
                <a:solidFill>
                  <a:srgbClr val="0F172A"/>
                </a:solidFill>
                <a:latin typeface="Arial" pitchFamily="34" charset="0"/>
                <a:ea typeface="Arial" pitchFamily="34" charset="-122"/>
                <a:cs typeface="Arial" pitchFamily="34" charset="-120"/>
              </a:rPr>
              <a:t>Deployment, Deliverables &amp; Future Scope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3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PROBLEM STATEMENT</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400" b="1" dirty="0">
                <a:solidFill>
                  <a:srgbClr val="0F172A"/>
                </a:solidFill>
                <a:latin typeface="Arial" pitchFamily="34" charset="0"/>
                <a:ea typeface="Arial" pitchFamily="34" charset="-122"/>
                <a:cs typeface="Arial" pitchFamily="34" charset="-120"/>
              </a:rPr>
              <a:t>Why sentiment analysis matters</a:t>
            </a:r>
            <a:endParaRPr lang="en-US" sz="2400" dirty="0"/>
          </a:p>
        </p:txBody>
      </p:sp>
      <p:sp>
        <p:nvSpPr>
          <p:cNvPr id="7" name="Shape 5"/>
          <p:cNvSpPr/>
          <p:nvPr/>
        </p:nvSpPr>
        <p:spPr>
          <a:xfrm>
            <a:off x="457200" y="1051560"/>
            <a:ext cx="8229600" cy="1234440"/>
          </a:xfrm>
          <a:prstGeom prst="roundRect">
            <a:avLst>
              <a:gd name="adj" fmla="val 7407"/>
            </a:avLst>
          </a:prstGeom>
          <a:solidFill>
            <a:srgbClr val="FFFFFF"/>
          </a:solidFill>
          <a:ln/>
          <a:effectLst>
            <a:outerShdw sx="100000" sy="100000" kx="0" ky="0" algn="bl" rotWithShape="0" blurRad="101600" dist="25400" dir="16200000">
              <a:srgbClr val="000000">
                <a:alpha val="6000"/>
              </a:srgbClr>
            </a:outerShdw>
          </a:effectLst>
        </p:spPr>
      </p:sp>
      <p:sp>
        <p:nvSpPr>
          <p:cNvPr id="8" name="Text 6"/>
          <p:cNvSpPr/>
          <p:nvPr/>
        </p:nvSpPr>
        <p:spPr>
          <a:xfrm>
            <a:off x="685800" y="1188720"/>
            <a:ext cx="7772400" cy="100584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E-commerce platforms receive massive volumes of customer reviews every day. Manually reading and classifying every review is slow, expensive, and inconsistent. Organizations need an automated way to understand product perception, service quality, and emerging issues at scale.</a:t>
            </a:r>
            <a:endParaRPr lang="en-US" sz="1400" dirty="0"/>
          </a:p>
        </p:txBody>
      </p:sp>
      <p:sp>
        <p:nvSpPr>
          <p:cNvPr id="9" name="Shape 7"/>
          <p:cNvSpPr/>
          <p:nvPr/>
        </p:nvSpPr>
        <p:spPr>
          <a:xfrm>
            <a:off x="457200" y="2514600"/>
            <a:ext cx="2697480" cy="1737360"/>
          </a:xfrm>
          <a:prstGeom prst="roundRect">
            <a:avLst>
              <a:gd name="adj" fmla="val 5263"/>
            </a:avLst>
          </a:prstGeom>
          <a:solidFill>
            <a:srgbClr val="FFFFFF"/>
          </a:solidFill>
          <a:ln/>
          <a:effectLst>
            <a:outerShdw sx="100000" sy="100000" kx="0" ky="0" algn="bl" rotWithShape="0" blurRad="101600" dist="25400" dir="16200000">
              <a:srgbClr val="000000">
                <a:alpha val="6000"/>
              </a:srgbClr>
            </a:outerShdw>
          </a:effectLst>
        </p:spPr>
      </p:sp>
      <p:sp>
        <p:nvSpPr>
          <p:cNvPr id="10" name="Shape 8"/>
          <p:cNvSpPr/>
          <p:nvPr/>
        </p:nvSpPr>
        <p:spPr>
          <a:xfrm>
            <a:off x="457200" y="2514600"/>
            <a:ext cx="91440" cy="1737360"/>
          </a:xfrm>
          <a:prstGeom prst="rect">
            <a:avLst/>
          </a:prstGeom>
          <a:solidFill>
            <a:srgbClr val="3B82F6"/>
          </a:solidFill>
          <a:ln/>
        </p:spPr>
      </p:sp>
      <p:sp>
        <p:nvSpPr>
          <p:cNvPr id="11" name="Text 9"/>
          <p:cNvSpPr/>
          <p:nvPr/>
        </p:nvSpPr>
        <p:spPr>
          <a:xfrm>
            <a:off x="685800" y="269748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Scale</a:t>
            </a:r>
            <a:endParaRPr lang="en-US" sz="1500" dirty="0"/>
          </a:p>
        </p:txBody>
      </p:sp>
      <p:sp>
        <p:nvSpPr>
          <p:cNvPr id="12" name="Text 10"/>
          <p:cNvSpPr/>
          <p:nvPr/>
        </p:nvSpPr>
        <p:spPr>
          <a:xfrm>
            <a:off x="685800" y="3108960"/>
            <a:ext cx="228600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Thousands of reviews per day cannot be reviewed by humans alone.</a:t>
            </a:r>
            <a:endParaRPr lang="en-US" sz="1300" dirty="0"/>
          </a:p>
        </p:txBody>
      </p:sp>
      <p:sp>
        <p:nvSpPr>
          <p:cNvPr id="13" name="Shape 11"/>
          <p:cNvSpPr/>
          <p:nvPr/>
        </p:nvSpPr>
        <p:spPr>
          <a:xfrm>
            <a:off x="3291840" y="2514600"/>
            <a:ext cx="2697480" cy="1737360"/>
          </a:xfrm>
          <a:prstGeom prst="roundRect">
            <a:avLst>
              <a:gd name="adj" fmla="val 5263"/>
            </a:avLst>
          </a:prstGeom>
          <a:solidFill>
            <a:srgbClr val="FFFFFF"/>
          </a:solidFill>
          <a:ln/>
          <a:effectLst>
            <a:outerShdw sx="100000" sy="100000" kx="0" ky="0" algn="bl" rotWithShape="0" blurRad="101600" dist="25400" dir="16200000">
              <a:srgbClr val="000000">
                <a:alpha val="6000"/>
              </a:srgbClr>
            </a:outerShdw>
          </a:effectLst>
        </p:spPr>
      </p:sp>
      <p:sp>
        <p:nvSpPr>
          <p:cNvPr id="14" name="Shape 12"/>
          <p:cNvSpPr/>
          <p:nvPr/>
        </p:nvSpPr>
        <p:spPr>
          <a:xfrm>
            <a:off x="3291840" y="2514600"/>
            <a:ext cx="91440" cy="1737360"/>
          </a:xfrm>
          <a:prstGeom prst="rect">
            <a:avLst/>
          </a:prstGeom>
          <a:solidFill>
            <a:srgbClr val="3B82F6"/>
          </a:solidFill>
          <a:ln/>
        </p:spPr>
      </p:sp>
      <p:sp>
        <p:nvSpPr>
          <p:cNvPr id="15" name="Text 13"/>
          <p:cNvSpPr/>
          <p:nvPr/>
        </p:nvSpPr>
        <p:spPr>
          <a:xfrm>
            <a:off x="3520440" y="269748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Inconsistency</a:t>
            </a:r>
            <a:endParaRPr lang="en-US" sz="1500" dirty="0"/>
          </a:p>
        </p:txBody>
      </p:sp>
      <p:sp>
        <p:nvSpPr>
          <p:cNvPr id="16" name="Text 14"/>
          <p:cNvSpPr/>
          <p:nvPr/>
        </p:nvSpPr>
        <p:spPr>
          <a:xfrm>
            <a:off x="3520440" y="3108960"/>
            <a:ext cx="228600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Different reviewers interpret the same feedback differently.</a:t>
            </a:r>
            <a:endParaRPr lang="en-US" sz="1300" dirty="0"/>
          </a:p>
        </p:txBody>
      </p:sp>
      <p:sp>
        <p:nvSpPr>
          <p:cNvPr id="17" name="Shape 15"/>
          <p:cNvSpPr/>
          <p:nvPr/>
        </p:nvSpPr>
        <p:spPr>
          <a:xfrm>
            <a:off x="6126480" y="2514600"/>
            <a:ext cx="2697480" cy="1737360"/>
          </a:xfrm>
          <a:prstGeom prst="roundRect">
            <a:avLst>
              <a:gd name="adj" fmla="val 5263"/>
            </a:avLst>
          </a:prstGeom>
          <a:solidFill>
            <a:srgbClr val="FFFFFF"/>
          </a:solidFill>
          <a:ln/>
          <a:effectLst>
            <a:outerShdw sx="100000" sy="100000" kx="0" ky="0" algn="bl" rotWithShape="0" blurRad="101600" dist="25400" dir="16200000">
              <a:srgbClr val="000000">
                <a:alpha val="6000"/>
              </a:srgbClr>
            </a:outerShdw>
          </a:effectLst>
        </p:spPr>
      </p:sp>
      <p:sp>
        <p:nvSpPr>
          <p:cNvPr id="18" name="Shape 16"/>
          <p:cNvSpPr/>
          <p:nvPr/>
        </p:nvSpPr>
        <p:spPr>
          <a:xfrm>
            <a:off x="6126480" y="2514600"/>
            <a:ext cx="91440" cy="1737360"/>
          </a:xfrm>
          <a:prstGeom prst="rect">
            <a:avLst/>
          </a:prstGeom>
          <a:solidFill>
            <a:srgbClr val="3B82F6"/>
          </a:solidFill>
          <a:ln/>
        </p:spPr>
      </p:sp>
      <p:sp>
        <p:nvSpPr>
          <p:cNvPr id="19" name="Text 17"/>
          <p:cNvSpPr/>
          <p:nvPr/>
        </p:nvSpPr>
        <p:spPr>
          <a:xfrm>
            <a:off x="6355080" y="269748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Action lag</a:t>
            </a:r>
            <a:endParaRPr lang="en-US" sz="1500" dirty="0"/>
          </a:p>
        </p:txBody>
      </p:sp>
      <p:sp>
        <p:nvSpPr>
          <p:cNvPr id="20" name="Text 18"/>
          <p:cNvSpPr/>
          <p:nvPr/>
        </p:nvSpPr>
        <p:spPr>
          <a:xfrm>
            <a:off x="6355080" y="3108960"/>
            <a:ext cx="228600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Delayed insights mean slower product and service improvements.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4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SOLUTION</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End-to-end sentiment classification system</a:t>
            </a:r>
            <a:endParaRPr lang="en-US" sz="2200" dirty="0"/>
          </a:p>
        </p:txBody>
      </p:sp>
      <p:sp>
        <p:nvSpPr>
          <p:cNvPr id="7" name="Text 5"/>
          <p:cNvSpPr/>
          <p:nvPr/>
        </p:nvSpPr>
        <p:spPr>
          <a:xfrm>
            <a:off x="457200" y="960120"/>
            <a:ext cx="8229600" cy="50292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Build a reusable pipeline that takes Flipkart-style reviews and automatically labels them as Positive, Neutral, or Negative — with confidence scores — using both classic ML and deep learning.</a:t>
            </a:r>
            <a:endParaRPr lang="en-US" sz="1400" dirty="0"/>
          </a:p>
        </p:txBody>
      </p:sp>
      <p:sp>
        <p:nvSpPr>
          <p:cNvPr id="8" name="Shape 6"/>
          <p:cNvSpPr/>
          <p:nvPr/>
        </p:nvSpPr>
        <p:spPr>
          <a:xfrm>
            <a:off x="502920" y="1645920"/>
            <a:ext cx="411480" cy="411480"/>
          </a:xfrm>
          <a:prstGeom prst="ellipse">
            <a:avLst/>
          </a:prstGeom>
          <a:solidFill>
            <a:srgbClr val="3B82F6"/>
          </a:solidFill>
          <a:ln/>
        </p:spPr>
      </p:sp>
      <p:sp>
        <p:nvSpPr>
          <p:cNvPr id="9" name="Text 7"/>
          <p:cNvSpPr/>
          <p:nvPr/>
        </p:nvSpPr>
        <p:spPr>
          <a:xfrm>
            <a:off x="502920" y="169164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097280" y="160020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Clean &amp; explore</a:t>
            </a:r>
            <a:endParaRPr lang="en-US" sz="1500" dirty="0"/>
          </a:p>
        </p:txBody>
      </p:sp>
      <p:sp>
        <p:nvSpPr>
          <p:cNvPr id="11" name="Text 9"/>
          <p:cNvSpPr/>
          <p:nvPr/>
        </p:nvSpPr>
        <p:spPr>
          <a:xfrm>
            <a:off x="3383280" y="1600200"/>
            <a:ext cx="5029200" cy="50292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Validate 30k rows, fix missing values, EDA on ratings, brands, delivery</a:t>
            </a:r>
            <a:endParaRPr lang="en-US" sz="1300" dirty="0"/>
          </a:p>
        </p:txBody>
      </p:sp>
      <p:sp>
        <p:nvSpPr>
          <p:cNvPr id="12" name="Shape 10"/>
          <p:cNvSpPr/>
          <p:nvPr/>
        </p:nvSpPr>
        <p:spPr>
          <a:xfrm>
            <a:off x="502920" y="2377440"/>
            <a:ext cx="411480" cy="411480"/>
          </a:xfrm>
          <a:prstGeom prst="ellipse">
            <a:avLst/>
          </a:prstGeom>
          <a:solidFill>
            <a:srgbClr val="3B82F6"/>
          </a:solidFill>
          <a:ln/>
        </p:spPr>
      </p:sp>
      <p:sp>
        <p:nvSpPr>
          <p:cNvPr id="13" name="Text 11"/>
          <p:cNvSpPr/>
          <p:nvPr/>
        </p:nvSpPr>
        <p:spPr>
          <a:xfrm>
            <a:off x="502920" y="242316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097280" y="233172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NLP preprocess</a:t>
            </a:r>
            <a:endParaRPr lang="en-US" sz="1500" dirty="0"/>
          </a:p>
        </p:txBody>
      </p:sp>
      <p:sp>
        <p:nvSpPr>
          <p:cNvPr id="15" name="Text 13"/>
          <p:cNvSpPr/>
          <p:nvPr/>
        </p:nvSpPr>
        <p:spPr>
          <a:xfrm>
            <a:off x="3383280" y="2331720"/>
            <a:ext cx="5029200" cy="50292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Combine summary + text, tokenize, stopwords, lemmatize</a:t>
            </a:r>
            <a:endParaRPr lang="en-US" sz="1300" dirty="0"/>
          </a:p>
        </p:txBody>
      </p:sp>
      <p:sp>
        <p:nvSpPr>
          <p:cNvPr id="16" name="Shape 14"/>
          <p:cNvSpPr/>
          <p:nvPr/>
        </p:nvSpPr>
        <p:spPr>
          <a:xfrm>
            <a:off x="502920" y="3108960"/>
            <a:ext cx="411480" cy="411480"/>
          </a:xfrm>
          <a:prstGeom prst="ellipse">
            <a:avLst/>
          </a:prstGeom>
          <a:solidFill>
            <a:srgbClr val="3B82F6"/>
          </a:solidFill>
          <a:ln/>
        </p:spPr>
      </p:sp>
      <p:sp>
        <p:nvSpPr>
          <p:cNvPr id="17" name="Text 15"/>
          <p:cNvSpPr/>
          <p:nvPr/>
        </p:nvSpPr>
        <p:spPr>
          <a:xfrm>
            <a:off x="502920" y="31546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097280" y="306324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Train models</a:t>
            </a:r>
            <a:endParaRPr lang="en-US" sz="1500" dirty="0"/>
          </a:p>
        </p:txBody>
      </p:sp>
      <p:sp>
        <p:nvSpPr>
          <p:cNvPr id="19" name="Text 17"/>
          <p:cNvSpPr/>
          <p:nvPr/>
        </p:nvSpPr>
        <p:spPr>
          <a:xfrm>
            <a:off x="3383280" y="3063240"/>
            <a:ext cx="5029200" cy="50292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TF-IDF + NB / LR / SVM and Embedding + LSTM / BiLSTM</a:t>
            </a:r>
            <a:endParaRPr lang="en-US" sz="1300" dirty="0"/>
          </a:p>
        </p:txBody>
      </p:sp>
      <p:sp>
        <p:nvSpPr>
          <p:cNvPr id="20" name="Shape 18"/>
          <p:cNvSpPr/>
          <p:nvPr/>
        </p:nvSpPr>
        <p:spPr>
          <a:xfrm>
            <a:off x="502920" y="3840480"/>
            <a:ext cx="411480" cy="411480"/>
          </a:xfrm>
          <a:prstGeom prst="ellipse">
            <a:avLst/>
          </a:prstGeom>
          <a:solidFill>
            <a:srgbClr val="3B82F6"/>
          </a:solidFill>
          <a:ln/>
        </p:spPr>
      </p:sp>
      <p:sp>
        <p:nvSpPr>
          <p:cNvPr id="21" name="Text 19"/>
          <p:cNvSpPr/>
          <p:nvPr/>
        </p:nvSpPr>
        <p:spPr>
          <a:xfrm>
            <a:off x="502920" y="388620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097280" y="3794760"/>
            <a:ext cx="22860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Deploy</a:t>
            </a:r>
            <a:endParaRPr lang="en-US" sz="1500" dirty="0"/>
          </a:p>
        </p:txBody>
      </p:sp>
      <p:sp>
        <p:nvSpPr>
          <p:cNvPr id="23" name="Text 21"/>
          <p:cNvSpPr/>
          <p:nvPr/>
        </p:nvSpPr>
        <p:spPr>
          <a:xfrm>
            <a:off x="3383280" y="3794760"/>
            <a:ext cx="5029200" cy="50292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Streamlit app for real-time prediction with confidence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5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DATASET</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Synthetic Flipkart reviews — 30,000 × 25</a:t>
            </a:r>
            <a:endParaRPr lang="en-US" sz="2200" dirty="0"/>
          </a:p>
        </p:txBody>
      </p:sp>
      <p:sp>
        <p:nvSpPr>
          <p:cNvPr id="7" name="Shape 5"/>
          <p:cNvSpPr/>
          <p:nvPr/>
        </p:nvSpPr>
        <p:spPr>
          <a:xfrm>
            <a:off x="457200" y="1051560"/>
            <a:ext cx="2011680" cy="1051560"/>
          </a:xfrm>
          <a:prstGeom prst="roundRect">
            <a:avLst>
              <a:gd name="adj" fmla="val 6957"/>
            </a:avLst>
          </a:prstGeom>
          <a:solidFill>
            <a:srgbClr val="FFFFFF"/>
          </a:solidFill>
          <a:ln/>
          <a:effectLst>
            <a:outerShdw sx="100000" sy="100000" kx="0" ky="0" algn="bl" rotWithShape="0" blurRad="76200" dist="12700" dir="16200000">
              <a:srgbClr val="000000">
                <a:alpha val="6000"/>
              </a:srgbClr>
            </a:outerShdw>
          </a:effectLst>
        </p:spPr>
      </p:sp>
      <p:sp>
        <p:nvSpPr>
          <p:cNvPr id="8" name="Text 6"/>
          <p:cNvSpPr/>
          <p:nvPr/>
        </p:nvSpPr>
        <p:spPr>
          <a:xfrm>
            <a:off x="457200" y="1188720"/>
            <a:ext cx="2011680" cy="457200"/>
          </a:xfrm>
          <a:prstGeom prst="rect">
            <a:avLst/>
          </a:prstGeom>
          <a:noFill/>
          <a:ln/>
        </p:spPr>
        <p:txBody>
          <a:bodyPr wrap="square" lIns="0" tIns="0" rIns="0" bIns="0" rtlCol="0" anchor="ctr"/>
          <a:lstStyle/>
          <a:p>
            <a:pPr algn="ctr" indent="0" marL="0">
              <a:buNone/>
            </a:pPr>
            <a:r>
              <a:rPr lang="en-US" sz="2400" b="1" dirty="0">
                <a:solidFill>
                  <a:srgbClr val="3B82F6"/>
                </a:solidFill>
                <a:latin typeface="Arial" pitchFamily="34" charset="0"/>
                <a:ea typeface="Arial" pitchFamily="34" charset="-122"/>
                <a:cs typeface="Arial" pitchFamily="34" charset="-120"/>
              </a:rPr>
              <a:t>30,000</a:t>
            </a:r>
            <a:endParaRPr lang="en-US" sz="2400" dirty="0"/>
          </a:p>
        </p:txBody>
      </p:sp>
      <p:sp>
        <p:nvSpPr>
          <p:cNvPr id="9" name="Text 7"/>
          <p:cNvSpPr/>
          <p:nvPr/>
        </p:nvSpPr>
        <p:spPr>
          <a:xfrm>
            <a:off x="457200" y="1691640"/>
            <a:ext cx="2011680" cy="27432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Reviews</a:t>
            </a:r>
            <a:endParaRPr lang="en-US" sz="1200" dirty="0"/>
          </a:p>
        </p:txBody>
      </p:sp>
      <p:sp>
        <p:nvSpPr>
          <p:cNvPr id="10" name="Shape 8"/>
          <p:cNvSpPr/>
          <p:nvPr/>
        </p:nvSpPr>
        <p:spPr>
          <a:xfrm>
            <a:off x="2606040" y="1051560"/>
            <a:ext cx="2011680" cy="1051560"/>
          </a:xfrm>
          <a:prstGeom prst="roundRect">
            <a:avLst>
              <a:gd name="adj" fmla="val 6957"/>
            </a:avLst>
          </a:prstGeom>
          <a:solidFill>
            <a:srgbClr val="FFFFFF"/>
          </a:solidFill>
          <a:ln/>
          <a:effectLst>
            <a:outerShdw sx="100000" sy="100000" kx="0" ky="0" algn="bl" rotWithShape="0" blurRad="76200" dist="12700" dir="16200000">
              <a:srgbClr val="000000">
                <a:alpha val="6000"/>
              </a:srgbClr>
            </a:outerShdw>
          </a:effectLst>
        </p:spPr>
      </p:sp>
      <p:sp>
        <p:nvSpPr>
          <p:cNvPr id="11" name="Text 9"/>
          <p:cNvSpPr/>
          <p:nvPr/>
        </p:nvSpPr>
        <p:spPr>
          <a:xfrm>
            <a:off x="2606040" y="1188720"/>
            <a:ext cx="2011680" cy="457200"/>
          </a:xfrm>
          <a:prstGeom prst="rect">
            <a:avLst/>
          </a:prstGeom>
          <a:noFill/>
          <a:ln/>
        </p:spPr>
        <p:txBody>
          <a:bodyPr wrap="square" lIns="0" tIns="0" rIns="0" bIns="0" rtlCol="0" anchor="ctr"/>
          <a:lstStyle/>
          <a:p>
            <a:pPr algn="ctr" indent="0" marL="0">
              <a:buNone/>
            </a:pPr>
            <a:r>
              <a:rPr lang="en-US" sz="2400" b="1" dirty="0">
                <a:solidFill>
                  <a:srgbClr val="3B82F6"/>
                </a:solidFill>
                <a:latin typeface="Arial" pitchFamily="34" charset="0"/>
                <a:ea typeface="Arial" pitchFamily="34" charset="-122"/>
                <a:cs typeface="Arial" pitchFamily="34" charset="-120"/>
              </a:rPr>
              <a:t>25</a:t>
            </a:r>
            <a:endParaRPr lang="en-US" sz="2400" dirty="0"/>
          </a:p>
        </p:txBody>
      </p:sp>
      <p:sp>
        <p:nvSpPr>
          <p:cNvPr id="12" name="Text 10"/>
          <p:cNvSpPr/>
          <p:nvPr/>
        </p:nvSpPr>
        <p:spPr>
          <a:xfrm>
            <a:off x="2606040" y="1691640"/>
            <a:ext cx="2011680" cy="27432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Columns</a:t>
            </a:r>
            <a:endParaRPr lang="en-US" sz="1200" dirty="0"/>
          </a:p>
        </p:txBody>
      </p:sp>
      <p:sp>
        <p:nvSpPr>
          <p:cNvPr id="13" name="Shape 11"/>
          <p:cNvSpPr/>
          <p:nvPr/>
        </p:nvSpPr>
        <p:spPr>
          <a:xfrm>
            <a:off x="4754880" y="1051560"/>
            <a:ext cx="2011680" cy="1051560"/>
          </a:xfrm>
          <a:prstGeom prst="roundRect">
            <a:avLst>
              <a:gd name="adj" fmla="val 6957"/>
            </a:avLst>
          </a:prstGeom>
          <a:solidFill>
            <a:srgbClr val="FFFFFF"/>
          </a:solidFill>
          <a:ln/>
          <a:effectLst>
            <a:outerShdw sx="100000" sy="100000" kx="0" ky="0" algn="bl" rotWithShape="0" blurRad="76200" dist="12700" dir="16200000">
              <a:srgbClr val="000000">
                <a:alpha val="6000"/>
              </a:srgbClr>
            </a:outerShdw>
          </a:effectLst>
        </p:spPr>
      </p:sp>
      <p:sp>
        <p:nvSpPr>
          <p:cNvPr id="14" name="Text 12"/>
          <p:cNvSpPr/>
          <p:nvPr/>
        </p:nvSpPr>
        <p:spPr>
          <a:xfrm>
            <a:off x="4754880" y="1188720"/>
            <a:ext cx="2011680" cy="457200"/>
          </a:xfrm>
          <a:prstGeom prst="rect">
            <a:avLst/>
          </a:prstGeom>
          <a:noFill/>
          <a:ln/>
        </p:spPr>
        <p:txBody>
          <a:bodyPr wrap="square" lIns="0" tIns="0" rIns="0" bIns="0" rtlCol="0" anchor="ctr"/>
          <a:lstStyle/>
          <a:p>
            <a:pPr algn="ctr" indent="0" marL="0">
              <a:buNone/>
            </a:pPr>
            <a:r>
              <a:rPr lang="en-US" sz="2400" b="1" dirty="0">
                <a:solidFill>
                  <a:srgbClr val="3B82F6"/>
                </a:solidFill>
                <a:latin typeface="Arial" pitchFamily="34" charset="0"/>
                <a:ea typeface="Arial" pitchFamily="34" charset="-122"/>
                <a:cs typeface="Arial" pitchFamily="34" charset="-120"/>
              </a:rPr>
              <a:t>3</a:t>
            </a:r>
            <a:endParaRPr lang="en-US" sz="2400" dirty="0"/>
          </a:p>
        </p:txBody>
      </p:sp>
      <p:sp>
        <p:nvSpPr>
          <p:cNvPr id="15" name="Text 13"/>
          <p:cNvSpPr/>
          <p:nvPr/>
        </p:nvSpPr>
        <p:spPr>
          <a:xfrm>
            <a:off x="4754880" y="1691640"/>
            <a:ext cx="2011680" cy="27432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Sentiment classes</a:t>
            </a:r>
            <a:endParaRPr lang="en-US" sz="1200" dirty="0"/>
          </a:p>
        </p:txBody>
      </p:sp>
      <p:sp>
        <p:nvSpPr>
          <p:cNvPr id="16" name="Shape 14"/>
          <p:cNvSpPr/>
          <p:nvPr/>
        </p:nvSpPr>
        <p:spPr>
          <a:xfrm>
            <a:off x="6903720" y="1051560"/>
            <a:ext cx="2011680" cy="1051560"/>
          </a:xfrm>
          <a:prstGeom prst="roundRect">
            <a:avLst>
              <a:gd name="adj" fmla="val 6957"/>
            </a:avLst>
          </a:prstGeom>
          <a:solidFill>
            <a:srgbClr val="FFFFFF"/>
          </a:solidFill>
          <a:ln/>
          <a:effectLst>
            <a:outerShdw sx="100000" sy="100000" kx="0" ky="0" algn="bl" rotWithShape="0" blurRad="76200" dist="12700" dir="16200000">
              <a:srgbClr val="000000">
                <a:alpha val="6000"/>
              </a:srgbClr>
            </a:outerShdw>
          </a:effectLst>
        </p:spPr>
      </p:sp>
      <p:sp>
        <p:nvSpPr>
          <p:cNvPr id="17" name="Text 15"/>
          <p:cNvSpPr/>
          <p:nvPr/>
        </p:nvSpPr>
        <p:spPr>
          <a:xfrm>
            <a:off x="6903720" y="1188720"/>
            <a:ext cx="2011680" cy="457200"/>
          </a:xfrm>
          <a:prstGeom prst="rect">
            <a:avLst/>
          </a:prstGeom>
          <a:noFill/>
          <a:ln/>
        </p:spPr>
        <p:txBody>
          <a:bodyPr wrap="square" lIns="0" tIns="0" rIns="0" bIns="0" rtlCol="0" anchor="ctr"/>
          <a:lstStyle/>
          <a:p>
            <a:pPr algn="ctr" indent="0" marL="0">
              <a:buNone/>
            </a:pPr>
            <a:r>
              <a:rPr lang="en-US" sz="2400" b="1" dirty="0">
                <a:solidFill>
                  <a:srgbClr val="3B82F6"/>
                </a:solidFill>
                <a:latin typeface="Arial" pitchFamily="34" charset="0"/>
                <a:ea typeface="Arial" pitchFamily="34" charset="-122"/>
                <a:cs typeface="Arial" pitchFamily="34" charset="-120"/>
              </a:rPr>
              <a:t>62%</a:t>
            </a:r>
            <a:endParaRPr lang="en-US" sz="2400" dirty="0"/>
          </a:p>
        </p:txBody>
      </p:sp>
      <p:sp>
        <p:nvSpPr>
          <p:cNvPr id="18" name="Text 16"/>
          <p:cNvSpPr/>
          <p:nvPr/>
        </p:nvSpPr>
        <p:spPr>
          <a:xfrm>
            <a:off x="6903720" y="1691640"/>
            <a:ext cx="2011680" cy="27432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Positive share</a:t>
            </a:r>
            <a:endParaRPr lang="en-US" sz="1200" dirty="0"/>
          </a:p>
        </p:txBody>
      </p:sp>
      <p:sp>
        <p:nvSpPr>
          <p:cNvPr id="19" name="Text 17"/>
          <p:cNvSpPr/>
          <p:nvPr/>
        </p:nvSpPr>
        <p:spPr>
          <a:xfrm>
            <a:off x="457200" y="2331720"/>
            <a:ext cx="8229600" cy="32004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Key feature groups</a:t>
            </a:r>
            <a:endParaRPr lang="en-US" sz="1400" dirty="0"/>
          </a:p>
        </p:txBody>
      </p:sp>
      <p:sp>
        <p:nvSpPr>
          <p:cNvPr id="20" name="Text 18"/>
          <p:cNvSpPr/>
          <p:nvPr/>
        </p:nvSpPr>
        <p:spPr>
          <a:xfrm>
            <a:off x="457200" y="2697480"/>
            <a:ext cx="2011680" cy="36576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Text / NLP</a:t>
            </a:r>
            <a:endParaRPr lang="en-US" sz="1300" dirty="0"/>
          </a:p>
        </p:txBody>
      </p:sp>
      <p:sp>
        <p:nvSpPr>
          <p:cNvPr id="21" name="Text 19"/>
          <p:cNvSpPr/>
          <p:nvPr/>
        </p:nvSpPr>
        <p:spPr>
          <a:xfrm>
            <a:off x="2560320" y="2697480"/>
            <a:ext cx="5943600" cy="36576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Review_Summary, Review_Text → Combined_Review</a:t>
            </a:r>
            <a:endParaRPr lang="en-US" sz="1300" dirty="0"/>
          </a:p>
        </p:txBody>
      </p:sp>
      <p:sp>
        <p:nvSpPr>
          <p:cNvPr id="22" name="Text 20"/>
          <p:cNvSpPr/>
          <p:nvPr/>
        </p:nvSpPr>
        <p:spPr>
          <a:xfrm>
            <a:off x="457200" y="3154680"/>
            <a:ext cx="2011680" cy="36576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Target</a:t>
            </a:r>
            <a:endParaRPr lang="en-US" sz="1300" dirty="0"/>
          </a:p>
        </p:txBody>
      </p:sp>
      <p:sp>
        <p:nvSpPr>
          <p:cNvPr id="23" name="Text 21"/>
          <p:cNvSpPr/>
          <p:nvPr/>
        </p:nvSpPr>
        <p:spPr>
          <a:xfrm>
            <a:off x="2560320" y="3154680"/>
            <a:ext cx="5943600" cy="36576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Sentiment (Positive / Neutral / Negative), Sentiment_Score</a:t>
            </a:r>
            <a:endParaRPr lang="en-US" sz="1300" dirty="0"/>
          </a:p>
        </p:txBody>
      </p:sp>
      <p:sp>
        <p:nvSpPr>
          <p:cNvPr id="24" name="Text 22"/>
          <p:cNvSpPr/>
          <p:nvPr/>
        </p:nvSpPr>
        <p:spPr>
          <a:xfrm>
            <a:off x="457200" y="3611880"/>
            <a:ext cx="2011680" cy="36576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Product</a:t>
            </a:r>
            <a:endParaRPr lang="en-US" sz="1300" dirty="0"/>
          </a:p>
        </p:txBody>
      </p:sp>
      <p:sp>
        <p:nvSpPr>
          <p:cNvPr id="25" name="Text 23"/>
          <p:cNvSpPr/>
          <p:nvPr/>
        </p:nvSpPr>
        <p:spPr>
          <a:xfrm>
            <a:off x="2560320" y="3611880"/>
            <a:ext cx="5943600" cy="36576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Category, Brand, Product_Price, Discount, Selling_Price, Rating</a:t>
            </a:r>
            <a:endParaRPr lang="en-US" sz="1300" dirty="0"/>
          </a:p>
        </p:txBody>
      </p:sp>
      <p:sp>
        <p:nvSpPr>
          <p:cNvPr id="26" name="Text 24"/>
          <p:cNvSpPr/>
          <p:nvPr/>
        </p:nvSpPr>
        <p:spPr>
          <a:xfrm>
            <a:off x="457200" y="4069080"/>
            <a:ext cx="2011680" cy="36576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Customer &amp; Ops</a:t>
            </a:r>
            <a:endParaRPr lang="en-US" sz="1300" dirty="0"/>
          </a:p>
        </p:txBody>
      </p:sp>
      <p:sp>
        <p:nvSpPr>
          <p:cNvPr id="27" name="Text 25"/>
          <p:cNvSpPr/>
          <p:nvPr/>
        </p:nvSpPr>
        <p:spPr>
          <a:xfrm>
            <a:off x="2560320" y="4069080"/>
            <a:ext cx="5943600" cy="36576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City, Verified_Purchase, Delivery_Days, Device, Experience_Score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6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TECH STACK</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Tools used across the pipeline</a:t>
            </a:r>
            <a:endParaRPr lang="en-US" sz="2200" dirty="0"/>
          </a:p>
        </p:txBody>
      </p:sp>
      <p:sp>
        <p:nvSpPr>
          <p:cNvPr id="7" name="Shape 5"/>
          <p:cNvSpPr/>
          <p:nvPr/>
        </p:nvSpPr>
        <p:spPr>
          <a:xfrm>
            <a:off x="457200" y="1051560"/>
            <a:ext cx="8229600" cy="502920"/>
          </a:xfrm>
          <a:prstGeom prst="roundRect">
            <a:avLst>
              <a:gd name="adj" fmla="val 10909"/>
            </a:avLst>
          </a:prstGeom>
          <a:solidFill>
            <a:srgbClr val="FFFFFF"/>
          </a:solidFill>
          <a:ln/>
        </p:spPr>
      </p:sp>
      <p:sp>
        <p:nvSpPr>
          <p:cNvPr id="8" name="Text 6"/>
          <p:cNvSpPr/>
          <p:nvPr/>
        </p:nvSpPr>
        <p:spPr>
          <a:xfrm>
            <a:off x="640080" y="1143000"/>
            <a:ext cx="2194560" cy="32004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Data &amp; EDA</a:t>
            </a:r>
            <a:endParaRPr lang="en-US" sz="1300" dirty="0"/>
          </a:p>
        </p:txBody>
      </p:sp>
      <p:sp>
        <p:nvSpPr>
          <p:cNvPr id="9" name="Text 7"/>
          <p:cNvSpPr/>
          <p:nvPr/>
        </p:nvSpPr>
        <p:spPr>
          <a:xfrm>
            <a:off x="2926080" y="1143000"/>
            <a:ext cx="557784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Python, Pandas, NumPy, Matplotlib, Seaborn</a:t>
            </a:r>
            <a:endParaRPr lang="en-US" sz="1300" dirty="0"/>
          </a:p>
        </p:txBody>
      </p:sp>
      <p:sp>
        <p:nvSpPr>
          <p:cNvPr id="10" name="Shape 8"/>
          <p:cNvSpPr/>
          <p:nvPr/>
        </p:nvSpPr>
        <p:spPr>
          <a:xfrm>
            <a:off x="457200" y="1618488"/>
            <a:ext cx="8229600" cy="502920"/>
          </a:xfrm>
          <a:prstGeom prst="roundRect">
            <a:avLst>
              <a:gd name="adj" fmla="val 10909"/>
            </a:avLst>
          </a:prstGeom>
          <a:solidFill>
            <a:srgbClr val="FFFFFF"/>
          </a:solidFill>
          <a:ln/>
        </p:spPr>
      </p:sp>
      <p:sp>
        <p:nvSpPr>
          <p:cNvPr id="11" name="Text 9"/>
          <p:cNvSpPr/>
          <p:nvPr/>
        </p:nvSpPr>
        <p:spPr>
          <a:xfrm>
            <a:off x="640080" y="1709928"/>
            <a:ext cx="2194560" cy="32004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NLP</a:t>
            </a:r>
            <a:endParaRPr lang="en-US" sz="1300" dirty="0"/>
          </a:p>
        </p:txBody>
      </p:sp>
      <p:sp>
        <p:nvSpPr>
          <p:cNvPr id="12" name="Text 10"/>
          <p:cNvSpPr/>
          <p:nvPr/>
        </p:nvSpPr>
        <p:spPr>
          <a:xfrm>
            <a:off x="2926080" y="1709928"/>
            <a:ext cx="557784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NLTK (tokenize, stopwords, Porter stem, WordNet lemma)</a:t>
            </a:r>
            <a:endParaRPr lang="en-US" sz="1300" dirty="0"/>
          </a:p>
        </p:txBody>
      </p:sp>
      <p:sp>
        <p:nvSpPr>
          <p:cNvPr id="13" name="Shape 11"/>
          <p:cNvSpPr/>
          <p:nvPr/>
        </p:nvSpPr>
        <p:spPr>
          <a:xfrm>
            <a:off x="457200" y="2185416"/>
            <a:ext cx="8229600" cy="502920"/>
          </a:xfrm>
          <a:prstGeom prst="roundRect">
            <a:avLst>
              <a:gd name="adj" fmla="val 10909"/>
            </a:avLst>
          </a:prstGeom>
          <a:solidFill>
            <a:srgbClr val="FFFFFF"/>
          </a:solidFill>
          <a:ln/>
        </p:spPr>
      </p:sp>
      <p:sp>
        <p:nvSpPr>
          <p:cNvPr id="14" name="Text 12"/>
          <p:cNvSpPr/>
          <p:nvPr/>
        </p:nvSpPr>
        <p:spPr>
          <a:xfrm>
            <a:off x="640080" y="2276856"/>
            <a:ext cx="2194560" cy="32004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Traditional ML</a:t>
            </a:r>
            <a:endParaRPr lang="en-US" sz="1300" dirty="0"/>
          </a:p>
        </p:txBody>
      </p:sp>
      <p:sp>
        <p:nvSpPr>
          <p:cNvPr id="15" name="Text 13"/>
          <p:cNvSpPr/>
          <p:nvPr/>
        </p:nvSpPr>
        <p:spPr>
          <a:xfrm>
            <a:off x="2926080" y="2276856"/>
            <a:ext cx="557784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Scikit-learn — TF-IDF, MultinomialNB, LogisticRegression, LinearSVC, RandomizedSearchCV</a:t>
            </a:r>
            <a:endParaRPr lang="en-US" sz="1300" dirty="0"/>
          </a:p>
        </p:txBody>
      </p:sp>
      <p:sp>
        <p:nvSpPr>
          <p:cNvPr id="16" name="Shape 14"/>
          <p:cNvSpPr/>
          <p:nvPr/>
        </p:nvSpPr>
        <p:spPr>
          <a:xfrm>
            <a:off x="457200" y="2752344"/>
            <a:ext cx="8229600" cy="502920"/>
          </a:xfrm>
          <a:prstGeom prst="roundRect">
            <a:avLst>
              <a:gd name="adj" fmla="val 10909"/>
            </a:avLst>
          </a:prstGeom>
          <a:solidFill>
            <a:srgbClr val="FFFFFF"/>
          </a:solidFill>
          <a:ln/>
        </p:spPr>
      </p:sp>
      <p:sp>
        <p:nvSpPr>
          <p:cNvPr id="17" name="Text 15"/>
          <p:cNvSpPr/>
          <p:nvPr/>
        </p:nvSpPr>
        <p:spPr>
          <a:xfrm>
            <a:off x="640080" y="2843784"/>
            <a:ext cx="2194560" cy="32004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Deep Learning</a:t>
            </a:r>
            <a:endParaRPr lang="en-US" sz="1300" dirty="0"/>
          </a:p>
        </p:txBody>
      </p:sp>
      <p:sp>
        <p:nvSpPr>
          <p:cNvPr id="18" name="Text 16"/>
          <p:cNvSpPr/>
          <p:nvPr/>
        </p:nvSpPr>
        <p:spPr>
          <a:xfrm>
            <a:off x="2926080" y="2843784"/>
            <a:ext cx="557784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TensorFlow / Keras — Embedding, LSTM, Bidirectional LSTM</a:t>
            </a:r>
            <a:endParaRPr lang="en-US" sz="1300" dirty="0"/>
          </a:p>
        </p:txBody>
      </p:sp>
      <p:sp>
        <p:nvSpPr>
          <p:cNvPr id="19" name="Shape 17"/>
          <p:cNvSpPr/>
          <p:nvPr/>
        </p:nvSpPr>
        <p:spPr>
          <a:xfrm>
            <a:off x="457200" y="3319272"/>
            <a:ext cx="8229600" cy="502920"/>
          </a:xfrm>
          <a:prstGeom prst="roundRect">
            <a:avLst>
              <a:gd name="adj" fmla="val 10909"/>
            </a:avLst>
          </a:prstGeom>
          <a:solidFill>
            <a:srgbClr val="FFFFFF"/>
          </a:solidFill>
          <a:ln/>
        </p:spPr>
      </p:sp>
      <p:sp>
        <p:nvSpPr>
          <p:cNvPr id="20" name="Text 18"/>
          <p:cNvSpPr/>
          <p:nvPr/>
        </p:nvSpPr>
        <p:spPr>
          <a:xfrm>
            <a:off x="640080" y="3410712"/>
            <a:ext cx="2194560" cy="32004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Persistence</a:t>
            </a:r>
            <a:endParaRPr lang="en-US" sz="1300" dirty="0"/>
          </a:p>
        </p:txBody>
      </p:sp>
      <p:sp>
        <p:nvSpPr>
          <p:cNvPr id="21" name="Text 19"/>
          <p:cNvSpPr/>
          <p:nvPr/>
        </p:nvSpPr>
        <p:spPr>
          <a:xfrm>
            <a:off x="2926080" y="3410712"/>
            <a:ext cx="557784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joblib (ML models + vectorizer), Keras .keras (DL model)</a:t>
            </a:r>
            <a:endParaRPr lang="en-US" sz="1300" dirty="0"/>
          </a:p>
        </p:txBody>
      </p:sp>
      <p:sp>
        <p:nvSpPr>
          <p:cNvPr id="22" name="Shape 20"/>
          <p:cNvSpPr/>
          <p:nvPr/>
        </p:nvSpPr>
        <p:spPr>
          <a:xfrm>
            <a:off x="457200" y="3886200"/>
            <a:ext cx="8229600" cy="502920"/>
          </a:xfrm>
          <a:prstGeom prst="roundRect">
            <a:avLst>
              <a:gd name="adj" fmla="val 10909"/>
            </a:avLst>
          </a:prstGeom>
          <a:solidFill>
            <a:srgbClr val="FFFFFF"/>
          </a:solidFill>
          <a:ln/>
        </p:spPr>
      </p:sp>
      <p:sp>
        <p:nvSpPr>
          <p:cNvPr id="23" name="Text 21"/>
          <p:cNvSpPr/>
          <p:nvPr/>
        </p:nvSpPr>
        <p:spPr>
          <a:xfrm>
            <a:off x="640080" y="3977640"/>
            <a:ext cx="2194560" cy="32004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Deployment</a:t>
            </a:r>
            <a:endParaRPr lang="en-US" sz="1300" dirty="0"/>
          </a:p>
        </p:txBody>
      </p:sp>
      <p:sp>
        <p:nvSpPr>
          <p:cNvPr id="24" name="Text 22"/>
          <p:cNvSpPr/>
          <p:nvPr/>
        </p:nvSpPr>
        <p:spPr>
          <a:xfrm>
            <a:off x="2926080" y="3977640"/>
            <a:ext cx="557784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Streamlit — interactive prediction UI with confidence scores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7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PIPELINE</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10-step end-to-end workflow</a:t>
            </a:r>
            <a:endParaRPr lang="en-US" sz="2200" dirty="0"/>
          </a:p>
        </p:txBody>
      </p:sp>
      <p:sp>
        <p:nvSpPr>
          <p:cNvPr id="7" name="Shape 5"/>
          <p:cNvSpPr/>
          <p:nvPr/>
        </p:nvSpPr>
        <p:spPr>
          <a:xfrm>
            <a:off x="457200" y="118872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8" name="Text 6"/>
          <p:cNvSpPr/>
          <p:nvPr/>
        </p:nvSpPr>
        <p:spPr>
          <a:xfrm>
            <a:off x="457200" y="141732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1</a:t>
            </a:r>
            <a:endParaRPr lang="en-US" sz="2200" dirty="0"/>
          </a:p>
        </p:txBody>
      </p:sp>
      <p:sp>
        <p:nvSpPr>
          <p:cNvPr id="9" name="Text 7"/>
          <p:cNvSpPr/>
          <p:nvPr/>
        </p:nvSpPr>
        <p:spPr>
          <a:xfrm>
            <a:off x="548640" y="187452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Load &amp; validate</a:t>
            </a:r>
            <a:endParaRPr lang="en-US" sz="1200" dirty="0"/>
          </a:p>
        </p:txBody>
      </p:sp>
      <p:sp>
        <p:nvSpPr>
          <p:cNvPr id="10" name="Shape 8"/>
          <p:cNvSpPr/>
          <p:nvPr/>
        </p:nvSpPr>
        <p:spPr>
          <a:xfrm>
            <a:off x="2148840" y="118872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11" name="Text 9"/>
          <p:cNvSpPr/>
          <p:nvPr/>
        </p:nvSpPr>
        <p:spPr>
          <a:xfrm>
            <a:off x="2148840" y="141732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2240280" y="187452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Clean data</a:t>
            </a:r>
            <a:endParaRPr lang="en-US" sz="1200" dirty="0"/>
          </a:p>
        </p:txBody>
      </p:sp>
      <p:sp>
        <p:nvSpPr>
          <p:cNvPr id="13" name="Shape 11"/>
          <p:cNvSpPr/>
          <p:nvPr/>
        </p:nvSpPr>
        <p:spPr>
          <a:xfrm>
            <a:off x="3840480" y="118872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14" name="Text 12"/>
          <p:cNvSpPr/>
          <p:nvPr/>
        </p:nvSpPr>
        <p:spPr>
          <a:xfrm>
            <a:off x="3840480" y="141732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3931920" y="187452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EDA</a:t>
            </a:r>
            <a:endParaRPr lang="en-US" sz="1200" dirty="0"/>
          </a:p>
        </p:txBody>
      </p:sp>
      <p:sp>
        <p:nvSpPr>
          <p:cNvPr id="16" name="Shape 14"/>
          <p:cNvSpPr/>
          <p:nvPr/>
        </p:nvSpPr>
        <p:spPr>
          <a:xfrm>
            <a:off x="5532120" y="118872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17" name="Text 15"/>
          <p:cNvSpPr/>
          <p:nvPr/>
        </p:nvSpPr>
        <p:spPr>
          <a:xfrm>
            <a:off x="5532120" y="141732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4</a:t>
            </a:r>
            <a:endParaRPr lang="en-US" sz="2200" dirty="0"/>
          </a:p>
        </p:txBody>
      </p:sp>
      <p:sp>
        <p:nvSpPr>
          <p:cNvPr id="18" name="Text 16"/>
          <p:cNvSpPr/>
          <p:nvPr/>
        </p:nvSpPr>
        <p:spPr>
          <a:xfrm>
            <a:off x="5623560" y="187452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NLP preprocess</a:t>
            </a:r>
            <a:endParaRPr lang="en-US" sz="1200" dirty="0"/>
          </a:p>
        </p:txBody>
      </p:sp>
      <p:sp>
        <p:nvSpPr>
          <p:cNvPr id="19" name="Shape 17"/>
          <p:cNvSpPr/>
          <p:nvPr/>
        </p:nvSpPr>
        <p:spPr>
          <a:xfrm>
            <a:off x="7223760" y="118872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20" name="Text 18"/>
          <p:cNvSpPr/>
          <p:nvPr/>
        </p:nvSpPr>
        <p:spPr>
          <a:xfrm>
            <a:off x="7223760" y="141732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5</a:t>
            </a:r>
            <a:endParaRPr lang="en-US" sz="2200" dirty="0"/>
          </a:p>
        </p:txBody>
      </p:sp>
      <p:sp>
        <p:nvSpPr>
          <p:cNvPr id="21" name="Text 19"/>
          <p:cNvSpPr/>
          <p:nvPr/>
        </p:nvSpPr>
        <p:spPr>
          <a:xfrm>
            <a:off x="7315200" y="187452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Feature eng.</a:t>
            </a:r>
            <a:endParaRPr lang="en-US" sz="1200" dirty="0"/>
          </a:p>
        </p:txBody>
      </p:sp>
      <p:sp>
        <p:nvSpPr>
          <p:cNvPr id="22" name="Shape 20"/>
          <p:cNvSpPr/>
          <p:nvPr/>
        </p:nvSpPr>
        <p:spPr>
          <a:xfrm>
            <a:off x="457200" y="274320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23" name="Text 21"/>
          <p:cNvSpPr/>
          <p:nvPr/>
        </p:nvSpPr>
        <p:spPr>
          <a:xfrm>
            <a:off x="457200" y="297180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6</a:t>
            </a:r>
            <a:endParaRPr lang="en-US" sz="2200" dirty="0"/>
          </a:p>
        </p:txBody>
      </p:sp>
      <p:sp>
        <p:nvSpPr>
          <p:cNvPr id="24" name="Text 22"/>
          <p:cNvSpPr/>
          <p:nvPr/>
        </p:nvSpPr>
        <p:spPr>
          <a:xfrm>
            <a:off x="548640" y="342900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Traditional ML</a:t>
            </a:r>
            <a:endParaRPr lang="en-US" sz="1200" dirty="0"/>
          </a:p>
        </p:txBody>
      </p:sp>
      <p:sp>
        <p:nvSpPr>
          <p:cNvPr id="25" name="Shape 23"/>
          <p:cNvSpPr/>
          <p:nvPr/>
        </p:nvSpPr>
        <p:spPr>
          <a:xfrm>
            <a:off x="2148840" y="274320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26" name="Text 24"/>
          <p:cNvSpPr/>
          <p:nvPr/>
        </p:nvSpPr>
        <p:spPr>
          <a:xfrm>
            <a:off x="2148840" y="297180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7</a:t>
            </a:r>
            <a:endParaRPr lang="en-US" sz="2200" dirty="0"/>
          </a:p>
        </p:txBody>
      </p:sp>
      <p:sp>
        <p:nvSpPr>
          <p:cNvPr id="27" name="Text 25"/>
          <p:cNvSpPr/>
          <p:nvPr/>
        </p:nvSpPr>
        <p:spPr>
          <a:xfrm>
            <a:off x="2240280" y="342900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Deep Learning</a:t>
            </a:r>
            <a:endParaRPr lang="en-US" sz="1200" dirty="0"/>
          </a:p>
        </p:txBody>
      </p:sp>
      <p:sp>
        <p:nvSpPr>
          <p:cNvPr id="28" name="Shape 26"/>
          <p:cNvSpPr/>
          <p:nvPr/>
        </p:nvSpPr>
        <p:spPr>
          <a:xfrm>
            <a:off x="3840480" y="274320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29" name="Text 27"/>
          <p:cNvSpPr/>
          <p:nvPr/>
        </p:nvSpPr>
        <p:spPr>
          <a:xfrm>
            <a:off x="3840480" y="297180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8</a:t>
            </a:r>
            <a:endParaRPr lang="en-US" sz="2200" dirty="0"/>
          </a:p>
        </p:txBody>
      </p:sp>
      <p:sp>
        <p:nvSpPr>
          <p:cNvPr id="30" name="Text 28"/>
          <p:cNvSpPr/>
          <p:nvPr/>
        </p:nvSpPr>
        <p:spPr>
          <a:xfrm>
            <a:off x="3931920" y="342900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Evaluate</a:t>
            </a:r>
            <a:endParaRPr lang="en-US" sz="1200" dirty="0"/>
          </a:p>
        </p:txBody>
      </p:sp>
      <p:sp>
        <p:nvSpPr>
          <p:cNvPr id="31" name="Shape 29"/>
          <p:cNvSpPr/>
          <p:nvPr/>
        </p:nvSpPr>
        <p:spPr>
          <a:xfrm>
            <a:off x="5532120" y="274320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32" name="Text 30"/>
          <p:cNvSpPr/>
          <p:nvPr/>
        </p:nvSpPr>
        <p:spPr>
          <a:xfrm>
            <a:off x="5532120" y="297180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9</a:t>
            </a:r>
            <a:endParaRPr lang="en-US" sz="2200" dirty="0"/>
          </a:p>
        </p:txBody>
      </p:sp>
      <p:sp>
        <p:nvSpPr>
          <p:cNvPr id="33" name="Text 31"/>
          <p:cNvSpPr/>
          <p:nvPr/>
        </p:nvSpPr>
        <p:spPr>
          <a:xfrm>
            <a:off x="5623560" y="342900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Compare</a:t>
            </a:r>
            <a:endParaRPr lang="en-US" sz="1200" dirty="0"/>
          </a:p>
        </p:txBody>
      </p:sp>
      <p:sp>
        <p:nvSpPr>
          <p:cNvPr id="34" name="Shape 32"/>
          <p:cNvSpPr/>
          <p:nvPr/>
        </p:nvSpPr>
        <p:spPr>
          <a:xfrm>
            <a:off x="7223760" y="2743200"/>
            <a:ext cx="1554480" cy="1234440"/>
          </a:xfrm>
          <a:prstGeom prst="roundRect">
            <a:avLst>
              <a:gd name="adj" fmla="val 5926"/>
            </a:avLst>
          </a:prstGeom>
          <a:solidFill>
            <a:srgbClr val="FFFFFF"/>
          </a:solidFill>
          <a:ln/>
          <a:effectLst>
            <a:outerShdw sx="100000" sy="100000" kx="0" ky="0" algn="bl" rotWithShape="0" blurRad="76200" dist="12700" dir="16200000">
              <a:srgbClr val="000000">
                <a:alpha val="5000"/>
              </a:srgbClr>
            </a:outerShdw>
          </a:effectLst>
        </p:spPr>
      </p:sp>
      <p:sp>
        <p:nvSpPr>
          <p:cNvPr id="35" name="Text 33"/>
          <p:cNvSpPr/>
          <p:nvPr/>
        </p:nvSpPr>
        <p:spPr>
          <a:xfrm>
            <a:off x="7223760" y="2971800"/>
            <a:ext cx="1554480" cy="365760"/>
          </a:xfrm>
          <a:prstGeom prst="rect">
            <a:avLst/>
          </a:prstGeom>
          <a:noFill/>
          <a:ln/>
        </p:spPr>
        <p:txBody>
          <a:bodyPr wrap="square" lIns="0" tIns="0" rIns="0" bIns="0" rtlCol="0" anchor="ctr"/>
          <a:lstStyle/>
          <a:p>
            <a:pPr algn="ctr" indent="0" marL="0">
              <a:buNone/>
            </a:pPr>
            <a:r>
              <a:rPr lang="en-US" sz="2200" b="1" dirty="0">
                <a:solidFill>
                  <a:srgbClr val="3B82F6"/>
                </a:solidFill>
                <a:latin typeface="Arial" pitchFamily="34" charset="0"/>
                <a:ea typeface="Arial" pitchFamily="34" charset="-122"/>
                <a:cs typeface="Arial" pitchFamily="34" charset="-120"/>
              </a:rPr>
              <a:t>10</a:t>
            </a:r>
            <a:endParaRPr lang="en-US" sz="2200" dirty="0"/>
          </a:p>
        </p:txBody>
      </p:sp>
      <p:sp>
        <p:nvSpPr>
          <p:cNvPr id="36" name="Text 34"/>
          <p:cNvSpPr/>
          <p:nvPr/>
        </p:nvSpPr>
        <p:spPr>
          <a:xfrm>
            <a:off x="7315200" y="3429000"/>
            <a:ext cx="1371600" cy="36576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Deploy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8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STEPS — DATA &amp; NLP</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From raw CSV to model-ready text</a:t>
            </a:r>
            <a:endParaRPr lang="en-US" sz="2200" dirty="0"/>
          </a:p>
        </p:txBody>
      </p:sp>
      <p:sp>
        <p:nvSpPr>
          <p:cNvPr id="7" name="Shape 5"/>
          <p:cNvSpPr/>
          <p:nvPr/>
        </p:nvSpPr>
        <p:spPr>
          <a:xfrm>
            <a:off x="457200" y="1051560"/>
            <a:ext cx="4023360" cy="3383280"/>
          </a:xfrm>
          <a:prstGeom prst="roundRect">
            <a:avLst>
              <a:gd name="adj" fmla="val 2703"/>
            </a:avLst>
          </a:prstGeom>
          <a:solidFill>
            <a:srgbClr val="FFFFFF"/>
          </a:solidFill>
          <a:ln/>
          <a:effectLst>
            <a:outerShdw sx="100000" sy="100000" kx="0" ky="0" algn="bl" rotWithShape="0" blurRad="76200" dist="12700" dir="16200000">
              <a:srgbClr val="000000">
                <a:alpha val="5000"/>
              </a:srgbClr>
            </a:outerShdw>
          </a:effectLst>
        </p:spPr>
      </p:sp>
      <p:sp>
        <p:nvSpPr>
          <p:cNvPr id="8" name="Text 6"/>
          <p:cNvSpPr/>
          <p:nvPr/>
        </p:nvSpPr>
        <p:spPr>
          <a:xfrm>
            <a:off x="685800" y="1234440"/>
            <a:ext cx="3657600" cy="32004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Phase 1–2  ·  Data &amp; EDA</a:t>
            </a:r>
            <a:endParaRPr lang="en-US" sz="1400" dirty="0"/>
          </a:p>
        </p:txBody>
      </p:sp>
      <p:sp>
        <p:nvSpPr>
          <p:cNvPr id="9" name="Text 7"/>
          <p:cNvSpPr/>
          <p:nvPr/>
        </p:nvSpPr>
        <p:spPr>
          <a:xfrm>
            <a:off x="685800" y="169164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Load 30k rows; check shape, dtypes, head</a:t>
            </a:r>
            <a:endParaRPr lang="en-US" sz="1200" dirty="0"/>
          </a:p>
        </p:txBody>
      </p:sp>
      <p:sp>
        <p:nvSpPr>
          <p:cNvPr id="10" name="Text 8"/>
          <p:cNvSpPr/>
          <p:nvPr/>
        </p:nvSpPr>
        <p:spPr>
          <a:xfrm>
            <a:off x="685800" y="2039112"/>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Missing: Review_Summary, City, Payment</a:t>
            </a:r>
            <a:endParaRPr lang="en-US" sz="1200" dirty="0"/>
          </a:p>
        </p:txBody>
      </p:sp>
      <p:sp>
        <p:nvSpPr>
          <p:cNvPr id="11" name="Text 9"/>
          <p:cNvSpPr/>
          <p:nvPr/>
        </p:nvSpPr>
        <p:spPr>
          <a:xfrm>
            <a:off x="685800" y="2386584"/>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Drop duplicate Review_IDs; fill / clip outliers</a:t>
            </a:r>
            <a:endParaRPr lang="en-US" sz="1200" dirty="0"/>
          </a:p>
        </p:txBody>
      </p:sp>
      <p:sp>
        <p:nvSpPr>
          <p:cNvPr id="12" name="Text 10"/>
          <p:cNvSpPr/>
          <p:nvPr/>
        </p:nvSpPr>
        <p:spPr>
          <a:xfrm>
            <a:off x="685800" y="2734056"/>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Parse dates → Year, Month, Day, DayOfWeek</a:t>
            </a:r>
            <a:endParaRPr lang="en-US" sz="1200" dirty="0"/>
          </a:p>
        </p:txBody>
      </p:sp>
      <p:sp>
        <p:nvSpPr>
          <p:cNvPr id="13" name="Text 11"/>
          <p:cNvSpPr/>
          <p:nvPr/>
        </p:nvSpPr>
        <p:spPr>
          <a:xfrm>
            <a:off x="685800" y="3081528"/>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Sentiment mix: 62% Pos / 20% Neu / 18% Neg</a:t>
            </a:r>
            <a:endParaRPr lang="en-US" sz="1200" dirty="0"/>
          </a:p>
        </p:txBody>
      </p:sp>
      <p:sp>
        <p:nvSpPr>
          <p:cNvPr id="14" name="Text 12"/>
          <p:cNvSpPr/>
          <p:nvPr/>
        </p:nvSpPr>
        <p:spPr>
          <a:xfrm>
            <a:off x="685800" y="342900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EDA: ratings, categories, brands, discounts</a:t>
            </a:r>
            <a:endParaRPr lang="en-US" sz="1200" dirty="0"/>
          </a:p>
        </p:txBody>
      </p:sp>
      <p:sp>
        <p:nvSpPr>
          <p:cNvPr id="15" name="Text 13"/>
          <p:cNvSpPr/>
          <p:nvPr/>
        </p:nvSpPr>
        <p:spPr>
          <a:xfrm>
            <a:off x="685800" y="3776472"/>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Word frequency by sentiment class</a:t>
            </a:r>
            <a:endParaRPr lang="en-US" sz="1200" dirty="0"/>
          </a:p>
        </p:txBody>
      </p:sp>
      <p:sp>
        <p:nvSpPr>
          <p:cNvPr id="16" name="Shape 14"/>
          <p:cNvSpPr/>
          <p:nvPr/>
        </p:nvSpPr>
        <p:spPr>
          <a:xfrm>
            <a:off x="4663440" y="1051560"/>
            <a:ext cx="4023360" cy="3383280"/>
          </a:xfrm>
          <a:prstGeom prst="roundRect">
            <a:avLst>
              <a:gd name="adj" fmla="val 2703"/>
            </a:avLst>
          </a:prstGeom>
          <a:solidFill>
            <a:srgbClr val="FFFFFF"/>
          </a:solidFill>
          <a:ln/>
          <a:effectLst>
            <a:outerShdw sx="100000" sy="100000" kx="0" ky="0" algn="bl" rotWithShape="0" blurRad="76200" dist="12700" dir="16200000">
              <a:srgbClr val="000000">
                <a:alpha val="5000"/>
              </a:srgbClr>
            </a:outerShdw>
          </a:effectLst>
        </p:spPr>
      </p:sp>
      <p:sp>
        <p:nvSpPr>
          <p:cNvPr id="17" name="Text 15"/>
          <p:cNvSpPr/>
          <p:nvPr/>
        </p:nvSpPr>
        <p:spPr>
          <a:xfrm>
            <a:off x="4892040" y="1234440"/>
            <a:ext cx="3657600" cy="32004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Phase 3  ·  NLP Preprocessing</a:t>
            </a:r>
            <a:endParaRPr lang="en-US" sz="1400" dirty="0"/>
          </a:p>
        </p:txBody>
      </p:sp>
      <p:sp>
        <p:nvSpPr>
          <p:cNvPr id="18" name="Text 16"/>
          <p:cNvSpPr/>
          <p:nvPr/>
        </p:nvSpPr>
        <p:spPr>
          <a:xfrm>
            <a:off x="4892040" y="169164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Combine Summary + Text → Combined_Review</a:t>
            </a:r>
            <a:endParaRPr lang="en-US" sz="1200" dirty="0"/>
          </a:p>
        </p:txBody>
      </p:sp>
      <p:sp>
        <p:nvSpPr>
          <p:cNvPr id="19" name="Text 17"/>
          <p:cNvSpPr/>
          <p:nvPr/>
        </p:nvSpPr>
        <p:spPr>
          <a:xfrm>
            <a:off x="4892040" y="2039112"/>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Lowercase; strip punctuation &amp; symbols</a:t>
            </a:r>
            <a:endParaRPr lang="en-US" sz="1200" dirty="0"/>
          </a:p>
        </p:txBody>
      </p:sp>
      <p:sp>
        <p:nvSpPr>
          <p:cNvPr id="20" name="Text 18"/>
          <p:cNvSpPr/>
          <p:nvPr/>
        </p:nvSpPr>
        <p:spPr>
          <a:xfrm>
            <a:off x="4892040" y="2386584"/>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Tokenize (NLTK word_tokenize)</a:t>
            </a:r>
            <a:endParaRPr lang="en-US" sz="1200" dirty="0"/>
          </a:p>
        </p:txBody>
      </p:sp>
      <p:sp>
        <p:nvSpPr>
          <p:cNvPr id="21" name="Text 19"/>
          <p:cNvSpPr/>
          <p:nvPr/>
        </p:nvSpPr>
        <p:spPr>
          <a:xfrm>
            <a:off x="4892040" y="2734056"/>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Remove English stopwords &amp; short tokens</a:t>
            </a:r>
            <a:endParaRPr lang="en-US" sz="1200" dirty="0"/>
          </a:p>
        </p:txBody>
      </p:sp>
      <p:sp>
        <p:nvSpPr>
          <p:cNvPr id="22" name="Text 20"/>
          <p:cNvSpPr/>
          <p:nvPr/>
        </p:nvSpPr>
        <p:spPr>
          <a:xfrm>
            <a:off x="4892040" y="3081528"/>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Lemmatize (WordNet) — preferred over stem</a:t>
            </a:r>
            <a:endParaRPr lang="en-US" sz="1200" dirty="0"/>
          </a:p>
        </p:txBody>
      </p:sp>
      <p:sp>
        <p:nvSpPr>
          <p:cNvPr id="23" name="Text 21"/>
          <p:cNvSpPr/>
          <p:nvPr/>
        </p:nvSpPr>
        <p:spPr>
          <a:xfrm>
            <a:off x="4892040" y="342900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Drop pure numeric tokens; collapse spaces</a:t>
            </a:r>
            <a:endParaRPr lang="en-US" sz="1200" dirty="0"/>
          </a:p>
        </p:txBody>
      </p:sp>
      <p:sp>
        <p:nvSpPr>
          <p:cNvPr id="24" name="Text 22"/>
          <p:cNvSpPr/>
          <p:nvPr/>
        </p:nvSpPr>
        <p:spPr>
          <a:xfrm>
            <a:off x="4892040" y="3776472"/>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Avg ~7–8 words per review after clean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9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STEPS — ML &amp; DEEP LEARNING</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Feature engineering to trained models</a:t>
            </a:r>
            <a:endParaRPr lang="en-US" sz="2200" dirty="0"/>
          </a:p>
        </p:txBody>
      </p:sp>
      <p:sp>
        <p:nvSpPr>
          <p:cNvPr id="7" name="Shape 5"/>
          <p:cNvSpPr/>
          <p:nvPr/>
        </p:nvSpPr>
        <p:spPr>
          <a:xfrm>
            <a:off x="457200" y="1051560"/>
            <a:ext cx="4023360" cy="3383280"/>
          </a:xfrm>
          <a:prstGeom prst="roundRect">
            <a:avLst>
              <a:gd name="adj" fmla="val 2703"/>
            </a:avLst>
          </a:prstGeom>
          <a:solidFill>
            <a:srgbClr val="FFFFFF"/>
          </a:solidFill>
          <a:ln/>
          <a:effectLst>
            <a:outerShdw sx="100000" sy="100000" kx="0" ky="0" algn="bl" rotWithShape="0" blurRad="76200" dist="12700" dir="16200000">
              <a:srgbClr val="000000">
                <a:alpha val="5000"/>
              </a:srgbClr>
            </a:outerShdw>
          </a:effectLst>
        </p:spPr>
      </p:sp>
      <p:sp>
        <p:nvSpPr>
          <p:cNvPr id="8" name="Text 6"/>
          <p:cNvSpPr/>
          <p:nvPr/>
        </p:nvSpPr>
        <p:spPr>
          <a:xfrm>
            <a:off x="685800" y="1234440"/>
            <a:ext cx="3657600" cy="32004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Phase 4  ·  Traditional ML</a:t>
            </a:r>
            <a:endParaRPr lang="en-US" sz="1400" dirty="0"/>
          </a:p>
        </p:txBody>
      </p:sp>
      <p:sp>
        <p:nvSpPr>
          <p:cNvPr id="9" name="Text 7"/>
          <p:cNvSpPr/>
          <p:nvPr/>
        </p:nvSpPr>
        <p:spPr>
          <a:xfrm>
            <a:off x="685800" y="164592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Bag of Words + TF-IDF (uni + bigram)</a:t>
            </a:r>
            <a:endParaRPr lang="en-US" sz="1200" dirty="0"/>
          </a:p>
        </p:txBody>
      </p:sp>
      <p:sp>
        <p:nvSpPr>
          <p:cNvPr id="10" name="Text 8"/>
          <p:cNvSpPr/>
          <p:nvPr/>
        </p:nvSpPr>
        <p:spPr>
          <a:xfrm>
            <a:off x="685800" y="196596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Stratified 80/20 train–test split</a:t>
            </a:r>
            <a:endParaRPr lang="en-US" sz="1200" dirty="0"/>
          </a:p>
        </p:txBody>
      </p:sp>
      <p:sp>
        <p:nvSpPr>
          <p:cNvPr id="11" name="Text 9"/>
          <p:cNvSpPr/>
          <p:nvPr/>
        </p:nvSpPr>
        <p:spPr>
          <a:xfrm>
            <a:off x="685800" y="228600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Multinomial Naive Bayes</a:t>
            </a:r>
            <a:endParaRPr lang="en-US" sz="1200" dirty="0"/>
          </a:p>
        </p:txBody>
      </p:sp>
      <p:sp>
        <p:nvSpPr>
          <p:cNvPr id="12" name="Text 10"/>
          <p:cNvSpPr/>
          <p:nvPr/>
        </p:nvSpPr>
        <p:spPr>
          <a:xfrm>
            <a:off x="685800" y="260604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Logistic Regression (class_weight=balanced)</a:t>
            </a:r>
            <a:endParaRPr lang="en-US" sz="1200" dirty="0"/>
          </a:p>
        </p:txBody>
      </p:sp>
      <p:sp>
        <p:nvSpPr>
          <p:cNvPr id="13" name="Text 11"/>
          <p:cNvSpPr/>
          <p:nvPr/>
        </p:nvSpPr>
        <p:spPr>
          <a:xfrm>
            <a:off x="685800" y="292608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Linear SVM</a:t>
            </a:r>
            <a:endParaRPr lang="en-US" sz="1200" dirty="0"/>
          </a:p>
        </p:txBody>
      </p:sp>
      <p:sp>
        <p:nvSpPr>
          <p:cNvPr id="14" name="Text 12"/>
          <p:cNvSpPr/>
          <p:nvPr/>
        </p:nvSpPr>
        <p:spPr>
          <a:xfrm>
            <a:off x="685800" y="324612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RandomizedSearchCV on best algorithm</a:t>
            </a:r>
            <a:endParaRPr lang="en-US" sz="1200" dirty="0"/>
          </a:p>
        </p:txBody>
      </p:sp>
      <p:sp>
        <p:nvSpPr>
          <p:cNvPr id="15" name="Text 13"/>
          <p:cNvSpPr/>
          <p:nvPr/>
        </p:nvSpPr>
        <p:spPr>
          <a:xfrm>
            <a:off x="685800" y="356616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Macro F1 + confusion matrix + report</a:t>
            </a:r>
            <a:endParaRPr lang="en-US" sz="1200" dirty="0"/>
          </a:p>
        </p:txBody>
      </p:sp>
      <p:sp>
        <p:nvSpPr>
          <p:cNvPr id="16" name="Text 14"/>
          <p:cNvSpPr/>
          <p:nvPr/>
        </p:nvSpPr>
        <p:spPr>
          <a:xfrm>
            <a:off x="685800" y="388620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Save best model + TF-IDF vectorizer</a:t>
            </a:r>
            <a:endParaRPr lang="en-US" sz="1200" dirty="0"/>
          </a:p>
        </p:txBody>
      </p:sp>
      <p:sp>
        <p:nvSpPr>
          <p:cNvPr id="17" name="Shape 15"/>
          <p:cNvSpPr/>
          <p:nvPr/>
        </p:nvSpPr>
        <p:spPr>
          <a:xfrm>
            <a:off x="4663440" y="1051560"/>
            <a:ext cx="4023360" cy="3383280"/>
          </a:xfrm>
          <a:prstGeom prst="roundRect">
            <a:avLst>
              <a:gd name="adj" fmla="val 2703"/>
            </a:avLst>
          </a:prstGeom>
          <a:solidFill>
            <a:srgbClr val="FFFFFF"/>
          </a:solidFill>
          <a:ln/>
          <a:effectLst>
            <a:outerShdw sx="100000" sy="100000" kx="0" ky="0" algn="bl" rotWithShape="0" blurRad="76200" dist="12700" dir="16200000">
              <a:srgbClr val="000000">
                <a:alpha val="5000"/>
              </a:srgbClr>
            </a:outerShdw>
          </a:effectLst>
        </p:spPr>
      </p:sp>
      <p:sp>
        <p:nvSpPr>
          <p:cNvPr id="18" name="Text 16"/>
          <p:cNvSpPr/>
          <p:nvPr/>
        </p:nvSpPr>
        <p:spPr>
          <a:xfrm>
            <a:off x="4892040" y="1234440"/>
            <a:ext cx="3657600" cy="32004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Phase 5  ·  Deep Learning</a:t>
            </a:r>
            <a:endParaRPr lang="en-US" sz="1400" dirty="0"/>
          </a:p>
        </p:txBody>
      </p:sp>
      <p:sp>
        <p:nvSpPr>
          <p:cNvPr id="19" name="Text 17"/>
          <p:cNvSpPr/>
          <p:nvPr/>
        </p:nvSpPr>
        <p:spPr>
          <a:xfrm>
            <a:off x="4892040" y="164592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Keras Tokenizer (vocab ~8k–12k)</a:t>
            </a:r>
            <a:endParaRPr lang="en-US" sz="1200" dirty="0"/>
          </a:p>
        </p:txBody>
      </p:sp>
      <p:sp>
        <p:nvSpPr>
          <p:cNvPr id="20" name="Text 18"/>
          <p:cNvSpPr/>
          <p:nvPr/>
        </p:nvSpPr>
        <p:spPr>
          <a:xfrm>
            <a:off x="4892040" y="196596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Pad sequences (max length 60–80)</a:t>
            </a:r>
            <a:endParaRPr lang="en-US" sz="1200" dirty="0"/>
          </a:p>
        </p:txBody>
      </p:sp>
      <p:sp>
        <p:nvSpPr>
          <p:cNvPr id="21" name="Text 19"/>
          <p:cNvSpPr/>
          <p:nvPr/>
        </p:nvSpPr>
        <p:spPr>
          <a:xfrm>
            <a:off x="4892040" y="228600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Embedding + GlobalAvg + Dense</a:t>
            </a:r>
            <a:endParaRPr lang="en-US" sz="1200" dirty="0"/>
          </a:p>
        </p:txBody>
      </p:sp>
      <p:sp>
        <p:nvSpPr>
          <p:cNvPr id="22" name="Text 20"/>
          <p:cNvSpPr/>
          <p:nvPr/>
        </p:nvSpPr>
        <p:spPr>
          <a:xfrm>
            <a:off x="4892040" y="260604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LSTM (units 32–64, dropout)</a:t>
            </a:r>
            <a:endParaRPr lang="en-US" sz="1200" dirty="0"/>
          </a:p>
        </p:txBody>
      </p:sp>
      <p:sp>
        <p:nvSpPr>
          <p:cNvPr id="23" name="Text 21"/>
          <p:cNvSpPr/>
          <p:nvPr/>
        </p:nvSpPr>
        <p:spPr>
          <a:xfrm>
            <a:off x="4892040" y="292608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Bidirectional LSTM (best DL)</a:t>
            </a:r>
            <a:endParaRPr lang="en-US" sz="1200" dirty="0"/>
          </a:p>
        </p:txBody>
      </p:sp>
      <p:sp>
        <p:nvSpPr>
          <p:cNvPr id="24" name="Text 22"/>
          <p:cNvSpPr/>
          <p:nvPr/>
        </p:nvSpPr>
        <p:spPr>
          <a:xfrm>
            <a:off x="4892040" y="324612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EarlyStopping + ReduceLROnPlateau</a:t>
            </a:r>
            <a:endParaRPr lang="en-US" sz="1200" dirty="0"/>
          </a:p>
        </p:txBody>
      </p:sp>
      <p:sp>
        <p:nvSpPr>
          <p:cNvPr id="25" name="Text 23"/>
          <p:cNvSpPr/>
          <p:nvPr/>
        </p:nvSpPr>
        <p:spPr>
          <a:xfrm>
            <a:off x="4892040" y="356616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Training / validation curves</a:t>
            </a:r>
            <a:endParaRPr lang="en-US" sz="1200" dirty="0"/>
          </a:p>
        </p:txBody>
      </p:sp>
      <p:sp>
        <p:nvSpPr>
          <p:cNvPr id="26" name="Text 24"/>
          <p:cNvSpPr/>
          <p:nvPr/>
        </p:nvSpPr>
        <p:spPr>
          <a:xfrm>
            <a:off x="4892040" y="3886200"/>
            <a:ext cx="3657600" cy="292608"/>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Save best .keras model + tokenizer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10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OBSERVATIONS</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What the data and models told us</a:t>
            </a:r>
            <a:endParaRPr lang="en-US" sz="2200" dirty="0"/>
          </a:p>
        </p:txBody>
      </p:sp>
      <p:sp>
        <p:nvSpPr>
          <p:cNvPr id="7" name="Shape 5"/>
          <p:cNvSpPr/>
          <p:nvPr/>
        </p:nvSpPr>
        <p:spPr>
          <a:xfrm>
            <a:off x="457200" y="1005840"/>
            <a:ext cx="4114800" cy="1051560"/>
          </a:xfrm>
          <a:prstGeom prst="roundRect">
            <a:avLst>
              <a:gd name="adj" fmla="val 6957"/>
            </a:avLst>
          </a:prstGeom>
          <a:solidFill>
            <a:srgbClr val="FFFFFF"/>
          </a:solidFill>
          <a:ln/>
        </p:spPr>
      </p:sp>
      <p:sp>
        <p:nvSpPr>
          <p:cNvPr id="8" name="Text 6"/>
          <p:cNvSpPr/>
          <p:nvPr/>
        </p:nvSpPr>
        <p:spPr>
          <a:xfrm>
            <a:off x="640080" y="1115568"/>
            <a:ext cx="3749040" cy="27432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Class imbalance</a:t>
            </a:r>
            <a:endParaRPr lang="en-US" sz="1300" dirty="0"/>
          </a:p>
        </p:txBody>
      </p:sp>
      <p:sp>
        <p:nvSpPr>
          <p:cNvPr id="9" name="Text 7"/>
          <p:cNvSpPr/>
          <p:nvPr/>
        </p:nvSpPr>
        <p:spPr>
          <a:xfrm>
            <a:off x="640080" y="1417320"/>
            <a:ext cx="3749040" cy="548640"/>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Positive reviews dominate (~62%). Neutral and Negative are smaller but still substantial. Class weights improved minority recall.</a:t>
            </a:r>
            <a:endParaRPr lang="en-US" sz="1100" dirty="0"/>
          </a:p>
        </p:txBody>
      </p:sp>
      <p:sp>
        <p:nvSpPr>
          <p:cNvPr id="10" name="Shape 8"/>
          <p:cNvSpPr/>
          <p:nvPr/>
        </p:nvSpPr>
        <p:spPr>
          <a:xfrm>
            <a:off x="4754880" y="1005840"/>
            <a:ext cx="4114800" cy="1051560"/>
          </a:xfrm>
          <a:prstGeom prst="roundRect">
            <a:avLst>
              <a:gd name="adj" fmla="val 6957"/>
            </a:avLst>
          </a:prstGeom>
          <a:solidFill>
            <a:srgbClr val="FFFFFF"/>
          </a:solidFill>
          <a:ln/>
        </p:spPr>
      </p:sp>
      <p:sp>
        <p:nvSpPr>
          <p:cNvPr id="11" name="Text 9"/>
          <p:cNvSpPr/>
          <p:nvPr/>
        </p:nvSpPr>
        <p:spPr>
          <a:xfrm>
            <a:off x="4937760" y="1115568"/>
            <a:ext cx="3749040" cy="27432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Lexical separability</a:t>
            </a:r>
            <a:endParaRPr lang="en-US" sz="1300" dirty="0"/>
          </a:p>
        </p:txBody>
      </p:sp>
      <p:sp>
        <p:nvSpPr>
          <p:cNvPr id="12" name="Text 10"/>
          <p:cNvSpPr/>
          <p:nvPr/>
        </p:nvSpPr>
        <p:spPr>
          <a:xfrm>
            <a:off x="4937760" y="1417320"/>
            <a:ext cx="3749040" cy="548640"/>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Synthetic reviews use clear positive/negative phrases. TF-IDF captures these strongly → near-perfect accuracy on held-out test.</a:t>
            </a:r>
            <a:endParaRPr lang="en-US" sz="1100" dirty="0"/>
          </a:p>
        </p:txBody>
      </p:sp>
      <p:sp>
        <p:nvSpPr>
          <p:cNvPr id="13" name="Shape 11"/>
          <p:cNvSpPr/>
          <p:nvPr/>
        </p:nvSpPr>
        <p:spPr>
          <a:xfrm>
            <a:off x="457200" y="2194560"/>
            <a:ext cx="4114800" cy="1051560"/>
          </a:xfrm>
          <a:prstGeom prst="roundRect">
            <a:avLst>
              <a:gd name="adj" fmla="val 6957"/>
            </a:avLst>
          </a:prstGeom>
          <a:solidFill>
            <a:srgbClr val="FFFFFF"/>
          </a:solidFill>
          <a:ln/>
        </p:spPr>
      </p:sp>
      <p:sp>
        <p:nvSpPr>
          <p:cNvPr id="14" name="Text 12"/>
          <p:cNvSpPr/>
          <p:nvPr/>
        </p:nvSpPr>
        <p:spPr>
          <a:xfrm>
            <a:off x="640080" y="2304288"/>
            <a:ext cx="3749040" cy="27432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Rating ↔ Sentiment</a:t>
            </a:r>
            <a:endParaRPr lang="en-US" sz="1300" dirty="0"/>
          </a:p>
        </p:txBody>
      </p:sp>
      <p:sp>
        <p:nvSpPr>
          <p:cNvPr id="15" name="Text 13"/>
          <p:cNvSpPr/>
          <p:nvPr/>
        </p:nvSpPr>
        <p:spPr>
          <a:xfrm>
            <a:off x="640080" y="2606040"/>
            <a:ext cx="3749040" cy="548640"/>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Higher star ratings align with Positive labels; lower ratings with Negative. Boxplots confirm the expected relationship.</a:t>
            </a:r>
            <a:endParaRPr lang="en-US" sz="1100" dirty="0"/>
          </a:p>
        </p:txBody>
      </p:sp>
      <p:sp>
        <p:nvSpPr>
          <p:cNvPr id="16" name="Shape 14"/>
          <p:cNvSpPr/>
          <p:nvPr/>
        </p:nvSpPr>
        <p:spPr>
          <a:xfrm>
            <a:off x="4754880" y="2194560"/>
            <a:ext cx="4114800" cy="1051560"/>
          </a:xfrm>
          <a:prstGeom prst="roundRect">
            <a:avLst>
              <a:gd name="adj" fmla="val 6957"/>
            </a:avLst>
          </a:prstGeom>
          <a:solidFill>
            <a:srgbClr val="FFFFFF"/>
          </a:solidFill>
          <a:ln/>
        </p:spPr>
      </p:sp>
      <p:sp>
        <p:nvSpPr>
          <p:cNvPr id="17" name="Text 15"/>
          <p:cNvSpPr/>
          <p:nvPr/>
        </p:nvSpPr>
        <p:spPr>
          <a:xfrm>
            <a:off x="4937760" y="2304288"/>
            <a:ext cx="3749040" cy="27432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Short reviews</a:t>
            </a:r>
            <a:endParaRPr lang="en-US" sz="1300" dirty="0"/>
          </a:p>
        </p:txBody>
      </p:sp>
      <p:sp>
        <p:nvSpPr>
          <p:cNvPr id="18" name="Text 16"/>
          <p:cNvSpPr/>
          <p:nvPr/>
        </p:nvSpPr>
        <p:spPr>
          <a:xfrm>
            <a:off x="4937760" y="2606040"/>
            <a:ext cx="3749040" cy="548640"/>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After cleaning, most reviews average only 7–8 tokens. Sequence models still work, but bag-of-words is highly competitive.</a:t>
            </a:r>
            <a:endParaRPr lang="en-US" sz="1100" dirty="0"/>
          </a:p>
        </p:txBody>
      </p:sp>
      <p:sp>
        <p:nvSpPr>
          <p:cNvPr id="19" name="Shape 17"/>
          <p:cNvSpPr/>
          <p:nvPr/>
        </p:nvSpPr>
        <p:spPr>
          <a:xfrm>
            <a:off x="457200" y="3383280"/>
            <a:ext cx="4114800" cy="1051560"/>
          </a:xfrm>
          <a:prstGeom prst="roundRect">
            <a:avLst>
              <a:gd name="adj" fmla="val 6957"/>
            </a:avLst>
          </a:prstGeom>
          <a:solidFill>
            <a:srgbClr val="FFFFFF"/>
          </a:solidFill>
          <a:ln/>
        </p:spPr>
      </p:sp>
      <p:sp>
        <p:nvSpPr>
          <p:cNvPr id="20" name="Text 18"/>
          <p:cNvSpPr/>
          <p:nvPr/>
        </p:nvSpPr>
        <p:spPr>
          <a:xfrm>
            <a:off x="640080" y="3493008"/>
            <a:ext cx="3749040" cy="27432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Delivery &amp; experience</a:t>
            </a:r>
            <a:endParaRPr lang="en-US" sz="1300" dirty="0"/>
          </a:p>
        </p:txBody>
      </p:sp>
      <p:sp>
        <p:nvSpPr>
          <p:cNvPr id="21" name="Text 19"/>
          <p:cNvSpPr/>
          <p:nvPr/>
        </p:nvSpPr>
        <p:spPr>
          <a:xfrm>
            <a:off x="640080" y="3794760"/>
            <a:ext cx="3749040" cy="548640"/>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Delivery_Days and Customer_Experience_Score show mild correlation; verified purchases do not drastically shift sentiment mix.</a:t>
            </a:r>
            <a:endParaRPr lang="en-US" sz="1100" dirty="0"/>
          </a:p>
        </p:txBody>
      </p:sp>
      <p:sp>
        <p:nvSpPr>
          <p:cNvPr id="22" name="Shape 20"/>
          <p:cNvSpPr/>
          <p:nvPr/>
        </p:nvSpPr>
        <p:spPr>
          <a:xfrm>
            <a:off x="4754880" y="3383280"/>
            <a:ext cx="4114800" cy="1051560"/>
          </a:xfrm>
          <a:prstGeom prst="roundRect">
            <a:avLst>
              <a:gd name="adj" fmla="val 6957"/>
            </a:avLst>
          </a:prstGeom>
          <a:solidFill>
            <a:srgbClr val="FFFFFF"/>
          </a:solidFill>
          <a:ln/>
        </p:spPr>
      </p:sp>
      <p:sp>
        <p:nvSpPr>
          <p:cNvPr id="23" name="Text 21"/>
          <p:cNvSpPr/>
          <p:nvPr/>
        </p:nvSpPr>
        <p:spPr>
          <a:xfrm>
            <a:off x="4937760" y="3493008"/>
            <a:ext cx="3749040" cy="274320"/>
          </a:xfrm>
          <a:prstGeom prst="rect">
            <a:avLst/>
          </a:prstGeom>
          <a:noFill/>
          <a:ln/>
        </p:spPr>
        <p:txBody>
          <a:bodyPr wrap="square" lIns="0" tIns="0" rIns="0" bIns="0" rtlCol="0" anchor="ctr"/>
          <a:lstStyle/>
          <a:p>
            <a:pPr indent="0" marL="0">
              <a:buNone/>
            </a:pPr>
            <a:r>
              <a:rPr lang="en-US" sz="1300" b="1" dirty="0">
                <a:solidFill>
                  <a:srgbClr val="3B82F6"/>
                </a:solidFill>
                <a:latin typeface="Arial" pitchFamily="34" charset="0"/>
                <a:ea typeface="Arial" pitchFamily="34" charset="-122"/>
                <a:cs typeface="Arial" pitchFamily="34" charset="-120"/>
              </a:rPr>
              <a:t>ML vs DL</a:t>
            </a:r>
            <a:endParaRPr lang="en-US" sz="1300" dirty="0"/>
          </a:p>
        </p:txBody>
      </p:sp>
      <p:sp>
        <p:nvSpPr>
          <p:cNvPr id="24" name="Text 22"/>
          <p:cNvSpPr/>
          <p:nvPr/>
        </p:nvSpPr>
        <p:spPr>
          <a:xfrm>
            <a:off x="4937760" y="3794760"/>
            <a:ext cx="3749040" cy="548640"/>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On this dataset, tuned Logistic Regression / Linear SVM match or beat lightweight LSTM. BiLSTM reaches the same ceiling with more compute.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11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RESULTS</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Model performance on held-out test set</a:t>
            </a:r>
            <a:endParaRPr lang="en-US" sz="2200" dirty="0"/>
          </a:p>
        </p:txBody>
      </p:sp>
      <p:sp>
        <p:nvSpPr>
          <p:cNvPr id="7" name="Shape 5"/>
          <p:cNvSpPr/>
          <p:nvPr/>
        </p:nvSpPr>
        <p:spPr>
          <a:xfrm>
            <a:off x="457200" y="1051560"/>
            <a:ext cx="1645920" cy="365760"/>
          </a:xfrm>
          <a:prstGeom prst="rect">
            <a:avLst/>
          </a:prstGeom>
          <a:solidFill>
            <a:srgbClr val="0B1220"/>
          </a:solidFill>
          <a:ln/>
        </p:spPr>
      </p:sp>
      <p:sp>
        <p:nvSpPr>
          <p:cNvPr id="8" name="Text 6"/>
          <p:cNvSpPr/>
          <p:nvPr/>
        </p:nvSpPr>
        <p:spPr>
          <a:xfrm>
            <a:off x="457200" y="1097280"/>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p>
        </p:txBody>
      </p:sp>
      <p:sp>
        <p:nvSpPr>
          <p:cNvPr id="9" name="Shape 7"/>
          <p:cNvSpPr/>
          <p:nvPr/>
        </p:nvSpPr>
        <p:spPr>
          <a:xfrm>
            <a:off x="2103120" y="1051560"/>
            <a:ext cx="1645920" cy="365760"/>
          </a:xfrm>
          <a:prstGeom prst="rect">
            <a:avLst/>
          </a:prstGeom>
          <a:solidFill>
            <a:srgbClr val="0B1220"/>
          </a:solidFill>
          <a:ln/>
        </p:spPr>
      </p:sp>
      <p:sp>
        <p:nvSpPr>
          <p:cNvPr id="10" name="Text 8"/>
          <p:cNvSpPr/>
          <p:nvPr/>
        </p:nvSpPr>
        <p:spPr>
          <a:xfrm>
            <a:off x="2103120" y="1097280"/>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p>
        </p:txBody>
      </p:sp>
      <p:sp>
        <p:nvSpPr>
          <p:cNvPr id="11" name="Shape 9"/>
          <p:cNvSpPr/>
          <p:nvPr/>
        </p:nvSpPr>
        <p:spPr>
          <a:xfrm>
            <a:off x="3749040" y="1051560"/>
            <a:ext cx="1645920" cy="365760"/>
          </a:xfrm>
          <a:prstGeom prst="rect">
            <a:avLst/>
          </a:prstGeom>
          <a:solidFill>
            <a:srgbClr val="0B1220"/>
          </a:solidFill>
          <a:ln/>
        </p:spPr>
      </p:sp>
      <p:sp>
        <p:nvSpPr>
          <p:cNvPr id="12" name="Text 10"/>
          <p:cNvSpPr/>
          <p:nvPr/>
        </p:nvSpPr>
        <p:spPr>
          <a:xfrm>
            <a:off x="3749040" y="1097280"/>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Precision</a:t>
            </a:r>
            <a:endParaRPr lang="en-US" sz="1200" dirty="0"/>
          </a:p>
        </p:txBody>
      </p:sp>
      <p:sp>
        <p:nvSpPr>
          <p:cNvPr id="13" name="Shape 11"/>
          <p:cNvSpPr/>
          <p:nvPr/>
        </p:nvSpPr>
        <p:spPr>
          <a:xfrm>
            <a:off x="5394960" y="1051560"/>
            <a:ext cx="1645920" cy="365760"/>
          </a:xfrm>
          <a:prstGeom prst="rect">
            <a:avLst/>
          </a:prstGeom>
          <a:solidFill>
            <a:srgbClr val="0B1220"/>
          </a:solidFill>
          <a:ln/>
        </p:spPr>
      </p:sp>
      <p:sp>
        <p:nvSpPr>
          <p:cNvPr id="14" name="Text 12"/>
          <p:cNvSpPr/>
          <p:nvPr/>
        </p:nvSpPr>
        <p:spPr>
          <a:xfrm>
            <a:off x="5394960" y="1097280"/>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Recall</a:t>
            </a:r>
            <a:endParaRPr lang="en-US" sz="1200" dirty="0"/>
          </a:p>
        </p:txBody>
      </p:sp>
      <p:sp>
        <p:nvSpPr>
          <p:cNvPr id="15" name="Shape 13"/>
          <p:cNvSpPr/>
          <p:nvPr/>
        </p:nvSpPr>
        <p:spPr>
          <a:xfrm>
            <a:off x="7040880" y="1051560"/>
            <a:ext cx="1645920" cy="365760"/>
          </a:xfrm>
          <a:prstGeom prst="rect">
            <a:avLst/>
          </a:prstGeom>
          <a:solidFill>
            <a:srgbClr val="0B1220"/>
          </a:solidFill>
          <a:ln/>
        </p:spPr>
      </p:sp>
      <p:sp>
        <p:nvSpPr>
          <p:cNvPr id="16" name="Text 14"/>
          <p:cNvSpPr/>
          <p:nvPr/>
        </p:nvSpPr>
        <p:spPr>
          <a:xfrm>
            <a:off x="7040880" y="1097280"/>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Macro F1</a:t>
            </a:r>
            <a:endParaRPr lang="en-US" sz="1200" dirty="0"/>
          </a:p>
        </p:txBody>
      </p:sp>
      <p:sp>
        <p:nvSpPr>
          <p:cNvPr id="17" name="Shape 15"/>
          <p:cNvSpPr/>
          <p:nvPr/>
        </p:nvSpPr>
        <p:spPr>
          <a:xfrm>
            <a:off x="457200" y="1417320"/>
            <a:ext cx="1645920" cy="411480"/>
          </a:xfrm>
          <a:prstGeom prst="rect">
            <a:avLst/>
          </a:prstGeom>
          <a:solidFill>
            <a:srgbClr val="FFFFFF"/>
          </a:solidFill>
          <a:ln/>
        </p:spPr>
      </p:sp>
      <p:sp>
        <p:nvSpPr>
          <p:cNvPr id="18" name="Text 16"/>
          <p:cNvSpPr/>
          <p:nvPr/>
        </p:nvSpPr>
        <p:spPr>
          <a:xfrm>
            <a:off x="457200" y="1490472"/>
            <a:ext cx="164592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Naive Bayes</a:t>
            </a:r>
            <a:endParaRPr lang="en-US" sz="1200" dirty="0"/>
          </a:p>
        </p:txBody>
      </p:sp>
      <p:sp>
        <p:nvSpPr>
          <p:cNvPr id="19" name="Shape 17"/>
          <p:cNvSpPr/>
          <p:nvPr/>
        </p:nvSpPr>
        <p:spPr>
          <a:xfrm>
            <a:off x="2103120" y="1417320"/>
            <a:ext cx="1645920" cy="411480"/>
          </a:xfrm>
          <a:prstGeom prst="rect">
            <a:avLst/>
          </a:prstGeom>
          <a:solidFill>
            <a:srgbClr val="FFFFFF"/>
          </a:solidFill>
          <a:ln/>
        </p:spPr>
      </p:sp>
      <p:sp>
        <p:nvSpPr>
          <p:cNvPr id="20" name="Text 18"/>
          <p:cNvSpPr/>
          <p:nvPr/>
        </p:nvSpPr>
        <p:spPr>
          <a:xfrm>
            <a:off x="2103120" y="14904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0.9998</a:t>
            </a:r>
            <a:endParaRPr lang="en-US" sz="1200" dirty="0"/>
          </a:p>
        </p:txBody>
      </p:sp>
      <p:sp>
        <p:nvSpPr>
          <p:cNvPr id="21" name="Shape 19"/>
          <p:cNvSpPr/>
          <p:nvPr/>
        </p:nvSpPr>
        <p:spPr>
          <a:xfrm>
            <a:off x="3749040" y="1417320"/>
            <a:ext cx="1645920" cy="411480"/>
          </a:xfrm>
          <a:prstGeom prst="rect">
            <a:avLst/>
          </a:prstGeom>
          <a:solidFill>
            <a:srgbClr val="FFFFFF"/>
          </a:solidFill>
          <a:ln/>
        </p:spPr>
      </p:sp>
      <p:sp>
        <p:nvSpPr>
          <p:cNvPr id="22" name="Text 20"/>
          <p:cNvSpPr/>
          <p:nvPr/>
        </p:nvSpPr>
        <p:spPr>
          <a:xfrm>
            <a:off x="3749040" y="14904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0.9999</a:t>
            </a:r>
            <a:endParaRPr lang="en-US" sz="1200" dirty="0"/>
          </a:p>
        </p:txBody>
      </p:sp>
      <p:sp>
        <p:nvSpPr>
          <p:cNvPr id="23" name="Shape 21"/>
          <p:cNvSpPr/>
          <p:nvPr/>
        </p:nvSpPr>
        <p:spPr>
          <a:xfrm>
            <a:off x="5394960" y="1417320"/>
            <a:ext cx="1645920" cy="411480"/>
          </a:xfrm>
          <a:prstGeom prst="rect">
            <a:avLst/>
          </a:prstGeom>
          <a:solidFill>
            <a:srgbClr val="FFFFFF"/>
          </a:solidFill>
          <a:ln/>
        </p:spPr>
      </p:sp>
      <p:sp>
        <p:nvSpPr>
          <p:cNvPr id="24" name="Text 22"/>
          <p:cNvSpPr/>
          <p:nvPr/>
        </p:nvSpPr>
        <p:spPr>
          <a:xfrm>
            <a:off x="5394960" y="14904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0.9997</a:t>
            </a:r>
            <a:endParaRPr lang="en-US" sz="1200" dirty="0"/>
          </a:p>
        </p:txBody>
      </p:sp>
      <p:sp>
        <p:nvSpPr>
          <p:cNvPr id="25" name="Shape 23"/>
          <p:cNvSpPr/>
          <p:nvPr/>
        </p:nvSpPr>
        <p:spPr>
          <a:xfrm>
            <a:off x="7040880" y="1417320"/>
            <a:ext cx="1645920" cy="411480"/>
          </a:xfrm>
          <a:prstGeom prst="rect">
            <a:avLst/>
          </a:prstGeom>
          <a:solidFill>
            <a:srgbClr val="FFFFFF"/>
          </a:solidFill>
          <a:ln/>
        </p:spPr>
      </p:sp>
      <p:sp>
        <p:nvSpPr>
          <p:cNvPr id="26" name="Text 24"/>
          <p:cNvSpPr/>
          <p:nvPr/>
        </p:nvSpPr>
        <p:spPr>
          <a:xfrm>
            <a:off x="7040880" y="14904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0.9998</a:t>
            </a:r>
            <a:endParaRPr lang="en-US" sz="1200" dirty="0"/>
          </a:p>
        </p:txBody>
      </p:sp>
      <p:sp>
        <p:nvSpPr>
          <p:cNvPr id="27" name="Shape 25"/>
          <p:cNvSpPr/>
          <p:nvPr/>
        </p:nvSpPr>
        <p:spPr>
          <a:xfrm>
            <a:off x="457200" y="1828800"/>
            <a:ext cx="1645920" cy="411480"/>
          </a:xfrm>
          <a:prstGeom prst="rect">
            <a:avLst/>
          </a:prstGeom>
          <a:solidFill>
            <a:srgbClr val="EEF2FF"/>
          </a:solidFill>
          <a:ln/>
        </p:spPr>
      </p:sp>
      <p:sp>
        <p:nvSpPr>
          <p:cNvPr id="28" name="Text 26"/>
          <p:cNvSpPr/>
          <p:nvPr/>
        </p:nvSpPr>
        <p:spPr>
          <a:xfrm>
            <a:off x="457200" y="1901952"/>
            <a:ext cx="164592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Logistic Regression</a:t>
            </a:r>
            <a:endParaRPr lang="en-US" sz="1200" dirty="0"/>
          </a:p>
        </p:txBody>
      </p:sp>
      <p:sp>
        <p:nvSpPr>
          <p:cNvPr id="29" name="Shape 27"/>
          <p:cNvSpPr/>
          <p:nvPr/>
        </p:nvSpPr>
        <p:spPr>
          <a:xfrm>
            <a:off x="2103120" y="1828800"/>
            <a:ext cx="1645920" cy="411480"/>
          </a:xfrm>
          <a:prstGeom prst="rect">
            <a:avLst/>
          </a:prstGeom>
          <a:solidFill>
            <a:srgbClr val="EEF2FF"/>
          </a:solidFill>
          <a:ln/>
        </p:spPr>
      </p:sp>
      <p:sp>
        <p:nvSpPr>
          <p:cNvPr id="30" name="Text 28"/>
          <p:cNvSpPr/>
          <p:nvPr/>
        </p:nvSpPr>
        <p:spPr>
          <a:xfrm>
            <a:off x="2103120" y="190195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31" name="Shape 29"/>
          <p:cNvSpPr/>
          <p:nvPr/>
        </p:nvSpPr>
        <p:spPr>
          <a:xfrm>
            <a:off x="3749040" y="1828800"/>
            <a:ext cx="1645920" cy="411480"/>
          </a:xfrm>
          <a:prstGeom prst="rect">
            <a:avLst/>
          </a:prstGeom>
          <a:solidFill>
            <a:srgbClr val="EEF2FF"/>
          </a:solidFill>
          <a:ln/>
        </p:spPr>
      </p:sp>
      <p:sp>
        <p:nvSpPr>
          <p:cNvPr id="32" name="Text 30"/>
          <p:cNvSpPr/>
          <p:nvPr/>
        </p:nvSpPr>
        <p:spPr>
          <a:xfrm>
            <a:off x="3749040" y="190195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33" name="Shape 31"/>
          <p:cNvSpPr/>
          <p:nvPr/>
        </p:nvSpPr>
        <p:spPr>
          <a:xfrm>
            <a:off x="5394960" y="1828800"/>
            <a:ext cx="1645920" cy="411480"/>
          </a:xfrm>
          <a:prstGeom prst="rect">
            <a:avLst/>
          </a:prstGeom>
          <a:solidFill>
            <a:srgbClr val="EEF2FF"/>
          </a:solidFill>
          <a:ln/>
        </p:spPr>
      </p:sp>
      <p:sp>
        <p:nvSpPr>
          <p:cNvPr id="34" name="Text 32"/>
          <p:cNvSpPr/>
          <p:nvPr/>
        </p:nvSpPr>
        <p:spPr>
          <a:xfrm>
            <a:off x="5394960" y="190195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35" name="Shape 33"/>
          <p:cNvSpPr/>
          <p:nvPr/>
        </p:nvSpPr>
        <p:spPr>
          <a:xfrm>
            <a:off x="7040880" y="1828800"/>
            <a:ext cx="1645920" cy="411480"/>
          </a:xfrm>
          <a:prstGeom prst="rect">
            <a:avLst/>
          </a:prstGeom>
          <a:solidFill>
            <a:srgbClr val="EEF2FF"/>
          </a:solidFill>
          <a:ln/>
        </p:spPr>
      </p:sp>
      <p:sp>
        <p:nvSpPr>
          <p:cNvPr id="36" name="Text 34"/>
          <p:cNvSpPr/>
          <p:nvPr/>
        </p:nvSpPr>
        <p:spPr>
          <a:xfrm>
            <a:off x="7040880" y="190195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37" name="Shape 35"/>
          <p:cNvSpPr/>
          <p:nvPr/>
        </p:nvSpPr>
        <p:spPr>
          <a:xfrm>
            <a:off x="457200" y="2240280"/>
            <a:ext cx="1645920" cy="411480"/>
          </a:xfrm>
          <a:prstGeom prst="rect">
            <a:avLst/>
          </a:prstGeom>
          <a:solidFill>
            <a:srgbClr val="FFFFFF"/>
          </a:solidFill>
          <a:ln/>
        </p:spPr>
      </p:sp>
      <p:sp>
        <p:nvSpPr>
          <p:cNvPr id="38" name="Text 36"/>
          <p:cNvSpPr/>
          <p:nvPr/>
        </p:nvSpPr>
        <p:spPr>
          <a:xfrm>
            <a:off x="457200" y="2313432"/>
            <a:ext cx="164592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Linear SVM</a:t>
            </a:r>
            <a:endParaRPr lang="en-US" sz="1200" dirty="0"/>
          </a:p>
        </p:txBody>
      </p:sp>
      <p:sp>
        <p:nvSpPr>
          <p:cNvPr id="39" name="Shape 37"/>
          <p:cNvSpPr/>
          <p:nvPr/>
        </p:nvSpPr>
        <p:spPr>
          <a:xfrm>
            <a:off x="2103120" y="2240280"/>
            <a:ext cx="1645920" cy="411480"/>
          </a:xfrm>
          <a:prstGeom prst="rect">
            <a:avLst/>
          </a:prstGeom>
          <a:solidFill>
            <a:srgbClr val="FFFFFF"/>
          </a:solidFill>
          <a:ln/>
        </p:spPr>
      </p:sp>
      <p:sp>
        <p:nvSpPr>
          <p:cNvPr id="40" name="Text 38"/>
          <p:cNvSpPr/>
          <p:nvPr/>
        </p:nvSpPr>
        <p:spPr>
          <a:xfrm>
            <a:off x="2103120" y="231343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41" name="Shape 39"/>
          <p:cNvSpPr/>
          <p:nvPr/>
        </p:nvSpPr>
        <p:spPr>
          <a:xfrm>
            <a:off x="3749040" y="2240280"/>
            <a:ext cx="1645920" cy="411480"/>
          </a:xfrm>
          <a:prstGeom prst="rect">
            <a:avLst/>
          </a:prstGeom>
          <a:solidFill>
            <a:srgbClr val="FFFFFF"/>
          </a:solidFill>
          <a:ln/>
        </p:spPr>
      </p:sp>
      <p:sp>
        <p:nvSpPr>
          <p:cNvPr id="42" name="Text 40"/>
          <p:cNvSpPr/>
          <p:nvPr/>
        </p:nvSpPr>
        <p:spPr>
          <a:xfrm>
            <a:off x="3749040" y="231343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43" name="Shape 41"/>
          <p:cNvSpPr/>
          <p:nvPr/>
        </p:nvSpPr>
        <p:spPr>
          <a:xfrm>
            <a:off x="5394960" y="2240280"/>
            <a:ext cx="1645920" cy="411480"/>
          </a:xfrm>
          <a:prstGeom prst="rect">
            <a:avLst/>
          </a:prstGeom>
          <a:solidFill>
            <a:srgbClr val="FFFFFF"/>
          </a:solidFill>
          <a:ln/>
        </p:spPr>
      </p:sp>
      <p:sp>
        <p:nvSpPr>
          <p:cNvPr id="44" name="Text 42"/>
          <p:cNvSpPr/>
          <p:nvPr/>
        </p:nvSpPr>
        <p:spPr>
          <a:xfrm>
            <a:off x="5394960" y="231343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45" name="Shape 43"/>
          <p:cNvSpPr/>
          <p:nvPr/>
        </p:nvSpPr>
        <p:spPr>
          <a:xfrm>
            <a:off x="7040880" y="2240280"/>
            <a:ext cx="1645920" cy="411480"/>
          </a:xfrm>
          <a:prstGeom prst="rect">
            <a:avLst/>
          </a:prstGeom>
          <a:solidFill>
            <a:srgbClr val="FFFFFF"/>
          </a:solidFill>
          <a:ln/>
        </p:spPr>
      </p:sp>
      <p:sp>
        <p:nvSpPr>
          <p:cNvPr id="46" name="Text 44"/>
          <p:cNvSpPr/>
          <p:nvPr/>
        </p:nvSpPr>
        <p:spPr>
          <a:xfrm>
            <a:off x="7040880" y="231343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47" name="Shape 45"/>
          <p:cNvSpPr/>
          <p:nvPr/>
        </p:nvSpPr>
        <p:spPr>
          <a:xfrm>
            <a:off x="457200" y="2651760"/>
            <a:ext cx="1645920" cy="411480"/>
          </a:xfrm>
          <a:prstGeom prst="rect">
            <a:avLst/>
          </a:prstGeom>
          <a:solidFill>
            <a:srgbClr val="EEF2FF"/>
          </a:solidFill>
          <a:ln/>
        </p:spPr>
      </p:sp>
      <p:sp>
        <p:nvSpPr>
          <p:cNvPr id="48" name="Text 46"/>
          <p:cNvSpPr/>
          <p:nvPr/>
        </p:nvSpPr>
        <p:spPr>
          <a:xfrm>
            <a:off x="457200" y="2724912"/>
            <a:ext cx="164592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Tuned LR</a:t>
            </a:r>
            <a:endParaRPr lang="en-US" sz="1200" dirty="0"/>
          </a:p>
        </p:txBody>
      </p:sp>
      <p:sp>
        <p:nvSpPr>
          <p:cNvPr id="49" name="Shape 47"/>
          <p:cNvSpPr/>
          <p:nvPr/>
        </p:nvSpPr>
        <p:spPr>
          <a:xfrm>
            <a:off x="2103120" y="2651760"/>
            <a:ext cx="1645920" cy="411480"/>
          </a:xfrm>
          <a:prstGeom prst="rect">
            <a:avLst/>
          </a:prstGeom>
          <a:solidFill>
            <a:srgbClr val="EEF2FF"/>
          </a:solidFill>
          <a:ln/>
        </p:spPr>
      </p:sp>
      <p:sp>
        <p:nvSpPr>
          <p:cNvPr id="50" name="Text 48"/>
          <p:cNvSpPr/>
          <p:nvPr/>
        </p:nvSpPr>
        <p:spPr>
          <a:xfrm>
            <a:off x="2103120" y="272491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51" name="Shape 49"/>
          <p:cNvSpPr/>
          <p:nvPr/>
        </p:nvSpPr>
        <p:spPr>
          <a:xfrm>
            <a:off x="3749040" y="2651760"/>
            <a:ext cx="1645920" cy="411480"/>
          </a:xfrm>
          <a:prstGeom prst="rect">
            <a:avLst/>
          </a:prstGeom>
          <a:solidFill>
            <a:srgbClr val="EEF2FF"/>
          </a:solidFill>
          <a:ln/>
        </p:spPr>
      </p:sp>
      <p:sp>
        <p:nvSpPr>
          <p:cNvPr id="52" name="Text 50"/>
          <p:cNvSpPr/>
          <p:nvPr/>
        </p:nvSpPr>
        <p:spPr>
          <a:xfrm>
            <a:off x="3749040" y="272491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53" name="Shape 51"/>
          <p:cNvSpPr/>
          <p:nvPr/>
        </p:nvSpPr>
        <p:spPr>
          <a:xfrm>
            <a:off x="5394960" y="2651760"/>
            <a:ext cx="1645920" cy="411480"/>
          </a:xfrm>
          <a:prstGeom prst="rect">
            <a:avLst/>
          </a:prstGeom>
          <a:solidFill>
            <a:srgbClr val="EEF2FF"/>
          </a:solidFill>
          <a:ln/>
        </p:spPr>
      </p:sp>
      <p:sp>
        <p:nvSpPr>
          <p:cNvPr id="54" name="Text 52"/>
          <p:cNvSpPr/>
          <p:nvPr/>
        </p:nvSpPr>
        <p:spPr>
          <a:xfrm>
            <a:off x="5394960" y="272491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55" name="Shape 53"/>
          <p:cNvSpPr/>
          <p:nvPr/>
        </p:nvSpPr>
        <p:spPr>
          <a:xfrm>
            <a:off x="7040880" y="2651760"/>
            <a:ext cx="1645920" cy="411480"/>
          </a:xfrm>
          <a:prstGeom prst="rect">
            <a:avLst/>
          </a:prstGeom>
          <a:solidFill>
            <a:srgbClr val="EEF2FF"/>
          </a:solidFill>
          <a:ln/>
        </p:spPr>
      </p:sp>
      <p:sp>
        <p:nvSpPr>
          <p:cNvPr id="56" name="Text 54"/>
          <p:cNvSpPr/>
          <p:nvPr/>
        </p:nvSpPr>
        <p:spPr>
          <a:xfrm>
            <a:off x="7040880" y="272491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57" name="Shape 55"/>
          <p:cNvSpPr/>
          <p:nvPr/>
        </p:nvSpPr>
        <p:spPr>
          <a:xfrm>
            <a:off x="457200" y="3063240"/>
            <a:ext cx="1645920" cy="411480"/>
          </a:xfrm>
          <a:prstGeom prst="rect">
            <a:avLst/>
          </a:prstGeom>
          <a:solidFill>
            <a:srgbClr val="FFFFFF"/>
          </a:solidFill>
          <a:ln/>
        </p:spPr>
      </p:sp>
      <p:sp>
        <p:nvSpPr>
          <p:cNvPr id="58" name="Text 56"/>
          <p:cNvSpPr/>
          <p:nvPr/>
        </p:nvSpPr>
        <p:spPr>
          <a:xfrm>
            <a:off x="457200" y="3136392"/>
            <a:ext cx="164592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Embedding + Dense</a:t>
            </a:r>
            <a:endParaRPr lang="en-US" sz="1200" dirty="0"/>
          </a:p>
        </p:txBody>
      </p:sp>
      <p:sp>
        <p:nvSpPr>
          <p:cNvPr id="59" name="Shape 57"/>
          <p:cNvSpPr/>
          <p:nvPr/>
        </p:nvSpPr>
        <p:spPr>
          <a:xfrm>
            <a:off x="2103120" y="3063240"/>
            <a:ext cx="1645920" cy="411480"/>
          </a:xfrm>
          <a:prstGeom prst="rect">
            <a:avLst/>
          </a:prstGeom>
          <a:solidFill>
            <a:srgbClr val="FFFFFF"/>
          </a:solidFill>
          <a:ln/>
        </p:spPr>
      </p:sp>
      <p:sp>
        <p:nvSpPr>
          <p:cNvPr id="60" name="Text 58"/>
          <p:cNvSpPr/>
          <p:nvPr/>
        </p:nvSpPr>
        <p:spPr>
          <a:xfrm>
            <a:off x="2103120" y="313639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0.9997</a:t>
            </a:r>
            <a:endParaRPr lang="en-US" sz="1200" dirty="0"/>
          </a:p>
        </p:txBody>
      </p:sp>
      <p:sp>
        <p:nvSpPr>
          <p:cNvPr id="61" name="Shape 59"/>
          <p:cNvSpPr/>
          <p:nvPr/>
        </p:nvSpPr>
        <p:spPr>
          <a:xfrm>
            <a:off x="3749040" y="3063240"/>
            <a:ext cx="1645920" cy="411480"/>
          </a:xfrm>
          <a:prstGeom prst="rect">
            <a:avLst/>
          </a:prstGeom>
          <a:solidFill>
            <a:srgbClr val="FFFFFF"/>
          </a:solidFill>
          <a:ln/>
        </p:spPr>
      </p:sp>
      <p:sp>
        <p:nvSpPr>
          <p:cNvPr id="62" name="Text 60"/>
          <p:cNvSpPr/>
          <p:nvPr/>
        </p:nvSpPr>
        <p:spPr>
          <a:xfrm>
            <a:off x="3749040" y="313639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0.9994</a:t>
            </a:r>
            <a:endParaRPr lang="en-US" sz="1200" dirty="0"/>
          </a:p>
        </p:txBody>
      </p:sp>
      <p:sp>
        <p:nvSpPr>
          <p:cNvPr id="63" name="Shape 61"/>
          <p:cNvSpPr/>
          <p:nvPr/>
        </p:nvSpPr>
        <p:spPr>
          <a:xfrm>
            <a:off x="5394960" y="3063240"/>
            <a:ext cx="1645920" cy="411480"/>
          </a:xfrm>
          <a:prstGeom prst="rect">
            <a:avLst/>
          </a:prstGeom>
          <a:solidFill>
            <a:srgbClr val="FFFFFF"/>
          </a:solidFill>
          <a:ln/>
        </p:spPr>
      </p:sp>
      <p:sp>
        <p:nvSpPr>
          <p:cNvPr id="64" name="Text 62"/>
          <p:cNvSpPr/>
          <p:nvPr/>
        </p:nvSpPr>
        <p:spPr>
          <a:xfrm>
            <a:off x="5394960" y="313639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0.9994</a:t>
            </a:r>
            <a:endParaRPr lang="en-US" sz="1200" dirty="0"/>
          </a:p>
        </p:txBody>
      </p:sp>
      <p:sp>
        <p:nvSpPr>
          <p:cNvPr id="65" name="Shape 63"/>
          <p:cNvSpPr/>
          <p:nvPr/>
        </p:nvSpPr>
        <p:spPr>
          <a:xfrm>
            <a:off x="7040880" y="3063240"/>
            <a:ext cx="1645920" cy="411480"/>
          </a:xfrm>
          <a:prstGeom prst="rect">
            <a:avLst/>
          </a:prstGeom>
          <a:solidFill>
            <a:srgbClr val="FFFFFF"/>
          </a:solidFill>
          <a:ln/>
        </p:spPr>
      </p:sp>
      <p:sp>
        <p:nvSpPr>
          <p:cNvPr id="66" name="Text 64"/>
          <p:cNvSpPr/>
          <p:nvPr/>
        </p:nvSpPr>
        <p:spPr>
          <a:xfrm>
            <a:off x="7040880" y="313639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0.9994</a:t>
            </a:r>
            <a:endParaRPr lang="en-US" sz="1200" dirty="0"/>
          </a:p>
        </p:txBody>
      </p:sp>
      <p:sp>
        <p:nvSpPr>
          <p:cNvPr id="67" name="Shape 65"/>
          <p:cNvSpPr/>
          <p:nvPr/>
        </p:nvSpPr>
        <p:spPr>
          <a:xfrm>
            <a:off x="457200" y="3474720"/>
            <a:ext cx="1645920" cy="411480"/>
          </a:xfrm>
          <a:prstGeom prst="rect">
            <a:avLst/>
          </a:prstGeom>
          <a:solidFill>
            <a:srgbClr val="EEF2FF"/>
          </a:solidFill>
          <a:ln/>
        </p:spPr>
      </p:sp>
      <p:sp>
        <p:nvSpPr>
          <p:cNvPr id="68" name="Text 66"/>
          <p:cNvSpPr/>
          <p:nvPr/>
        </p:nvSpPr>
        <p:spPr>
          <a:xfrm>
            <a:off x="457200" y="3547872"/>
            <a:ext cx="164592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BiLSTM (best DL)</a:t>
            </a:r>
            <a:endParaRPr lang="en-US" sz="1200" dirty="0"/>
          </a:p>
        </p:txBody>
      </p:sp>
      <p:sp>
        <p:nvSpPr>
          <p:cNvPr id="69" name="Shape 67"/>
          <p:cNvSpPr/>
          <p:nvPr/>
        </p:nvSpPr>
        <p:spPr>
          <a:xfrm>
            <a:off x="2103120" y="3474720"/>
            <a:ext cx="1645920" cy="411480"/>
          </a:xfrm>
          <a:prstGeom prst="rect">
            <a:avLst/>
          </a:prstGeom>
          <a:solidFill>
            <a:srgbClr val="EEF2FF"/>
          </a:solidFill>
          <a:ln/>
        </p:spPr>
      </p:sp>
      <p:sp>
        <p:nvSpPr>
          <p:cNvPr id="70" name="Text 68"/>
          <p:cNvSpPr/>
          <p:nvPr/>
        </p:nvSpPr>
        <p:spPr>
          <a:xfrm>
            <a:off x="2103120" y="35478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71" name="Shape 69"/>
          <p:cNvSpPr/>
          <p:nvPr/>
        </p:nvSpPr>
        <p:spPr>
          <a:xfrm>
            <a:off x="3749040" y="3474720"/>
            <a:ext cx="1645920" cy="411480"/>
          </a:xfrm>
          <a:prstGeom prst="rect">
            <a:avLst/>
          </a:prstGeom>
          <a:solidFill>
            <a:srgbClr val="EEF2FF"/>
          </a:solidFill>
          <a:ln/>
        </p:spPr>
      </p:sp>
      <p:sp>
        <p:nvSpPr>
          <p:cNvPr id="72" name="Text 70"/>
          <p:cNvSpPr/>
          <p:nvPr/>
        </p:nvSpPr>
        <p:spPr>
          <a:xfrm>
            <a:off x="3749040" y="35478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73" name="Shape 71"/>
          <p:cNvSpPr/>
          <p:nvPr/>
        </p:nvSpPr>
        <p:spPr>
          <a:xfrm>
            <a:off x="5394960" y="3474720"/>
            <a:ext cx="1645920" cy="411480"/>
          </a:xfrm>
          <a:prstGeom prst="rect">
            <a:avLst/>
          </a:prstGeom>
          <a:solidFill>
            <a:srgbClr val="EEF2FF"/>
          </a:solidFill>
          <a:ln/>
        </p:spPr>
      </p:sp>
      <p:sp>
        <p:nvSpPr>
          <p:cNvPr id="74" name="Text 72"/>
          <p:cNvSpPr/>
          <p:nvPr/>
        </p:nvSpPr>
        <p:spPr>
          <a:xfrm>
            <a:off x="5394960" y="35478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75" name="Shape 73"/>
          <p:cNvSpPr/>
          <p:nvPr/>
        </p:nvSpPr>
        <p:spPr>
          <a:xfrm>
            <a:off x="7040880" y="3474720"/>
            <a:ext cx="1645920" cy="411480"/>
          </a:xfrm>
          <a:prstGeom prst="rect">
            <a:avLst/>
          </a:prstGeom>
          <a:solidFill>
            <a:srgbClr val="EEF2FF"/>
          </a:solidFill>
          <a:ln/>
        </p:spPr>
      </p:sp>
      <p:sp>
        <p:nvSpPr>
          <p:cNvPr id="76" name="Text 74"/>
          <p:cNvSpPr/>
          <p:nvPr/>
        </p:nvSpPr>
        <p:spPr>
          <a:xfrm>
            <a:off x="7040880" y="3547872"/>
            <a:ext cx="1645920" cy="274320"/>
          </a:xfrm>
          <a:prstGeom prst="rect">
            <a:avLst/>
          </a:prstGeom>
          <a:noFill/>
          <a:ln/>
        </p:spPr>
        <p:txBody>
          <a:bodyPr wrap="square" lIns="0" tIns="0" rIns="0" bIns="0" rtlCol="0" anchor="ctr"/>
          <a:lstStyle/>
          <a:p>
            <a:pPr algn="ctr" indent="0" marL="0">
              <a:buNone/>
            </a:pPr>
            <a:r>
              <a:rPr lang="en-US" sz="1200" dirty="0">
                <a:solidFill>
                  <a:srgbClr val="0F172A"/>
                </a:solidFill>
                <a:latin typeface="Arial" pitchFamily="34" charset="0"/>
                <a:ea typeface="Arial" pitchFamily="34" charset="-122"/>
                <a:cs typeface="Arial" pitchFamily="34" charset="-120"/>
              </a:rPr>
              <a:t>1.0000</a:t>
            </a:r>
            <a:endParaRPr lang="en-US" sz="1200" dirty="0"/>
          </a:p>
        </p:txBody>
      </p:sp>
      <p:sp>
        <p:nvSpPr>
          <p:cNvPr id="77" name="Text 75"/>
          <p:cNvSpPr/>
          <p:nvPr/>
        </p:nvSpPr>
        <p:spPr>
          <a:xfrm>
            <a:off x="457200" y="4023360"/>
            <a:ext cx="8229600" cy="41148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Primary metric: Macro F1 (fair to all three classes). Near-perfect scores reflect strong lexical cues in the synthetic reviews.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12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ML vs DL — WHICH TO USE?</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Practical recommendation</a:t>
            </a:r>
            <a:endParaRPr lang="en-US" sz="2200" dirty="0"/>
          </a:p>
        </p:txBody>
      </p:sp>
      <p:sp>
        <p:nvSpPr>
          <p:cNvPr id="7" name="Shape 5"/>
          <p:cNvSpPr/>
          <p:nvPr/>
        </p:nvSpPr>
        <p:spPr>
          <a:xfrm>
            <a:off x="457200" y="1051560"/>
            <a:ext cx="4023360" cy="3200400"/>
          </a:xfrm>
          <a:prstGeom prst="roundRect">
            <a:avLst>
              <a:gd name="adj" fmla="val 2857"/>
            </a:avLst>
          </a:prstGeom>
          <a:solidFill>
            <a:srgbClr val="FFFFFF"/>
          </a:solidFill>
          <a:ln/>
          <a:effectLst>
            <a:outerShdw sx="100000" sy="100000" kx="0" ky="0" algn="bl" rotWithShape="0" blurRad="76200" dist="12700" dir="16200000">
              <a:srgbClr val="000000">
                <a:alpha val="5000"/>
              </a:srgbClr>
            </a:outerShdw>
          </a:effectLst>
        </p:spPr>
      </p:sp>
      <p:sp>
        <p:nvSpPr>
          <p:cNvPr id="8" name="Shape 6"/>
          <p:cNvSpPr/>
          <p:nvPr/>
        </p:nvSpPr>
        <p:spPr>
          <a:xfrm>
            <a:off x="457200" y="1051560"/>
            <a:ext cx="4023360" cy="457200"/>
          </a:xfrm>
          <a:prstGeom prst="rect">
            <a:avLst/>
          </a:prstGeom>
          <a:solidFill>
            <a:srgbClr val="3B82F6"/>
          </a:solidFill>
          <a:ln/>
        </p:spPr>
      </p:sp>
      <p:sp>
        <p:nvSpPr>
          <p:cNvPr id="9" name="Text 7"/>
          <p:cNvSpPr/>
          <p:nvPr/>
        </p:nvSpPr>
        <p:spPr>
          <a:xfrm>
            <a:off x="457200" y="1143000"/>
            <a:ext cx="402336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Prefer Traditional ML</a:t>
            </a:r>
            <a:endParaRPr lang="en-US" sz="1500" dirty="0"/>
          </a:p>
        </p:txBody>
      </p:sp>
      <p:sp>
        <p:nvSpPr>
          <p:cNvPr id="10" name="Text 8"/>
          <p:cNvSpPr/>
          <p:nvPr/>
        </p:nvSpPr>
        <p:spPr>
          <a:xfrm>
            <a:off x="685800" y="169164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Fast training &amp; inference</a:t>
            </a:r>
            <a:endParaRPr lang="en-US" sz="1300" dirty="0"/>
          </a:p>
        </p:txBody>
      </p:sp>
      <p:sp>
        <p:nvSpPr>
          <p:cNvPr id="11" name="Text 9"/>
          <p:cNvSpPr/>
          <p:nvPr/>
        </p:nvSpPr>
        <p:spPr>
          <a:xfrm>
            <a:off x="685800" y="205740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Easy to interpret (top words)</a:t>
            </a:r>
            <a:endParaRPr lang="en-US" sz="1300" dirty="0"/>
          </a:p>
        </p:txBody>
      </p:sp>
      <p:sp>
        <p:nvSpPr>
          <p:cNvPr id="12" name="Text 10"/>
          <p:cNvSpPr/>
          <p:nvPr/>
        </p:nvSpPr>
        <p:spPr>
          <a:xfrm>
            <a:off x="685800" y="242316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Small artifact size (joblib)</a:t>
            </a:r>
            <a:endParaRPr lang="en-US" sz="1300" dirty="0"/>
          </a:p>
        </p:txBody>
      </p:sp>
      <p:sp>
        <p:nvSpPr>
          <p:cNvPr id="13" name="Text 11"/>
          <p:cNvSpPr/>
          <p:nvPr/>
        </p:nvSpPr>
        <p:spPr>
          <a:xfrm>
            <a:off x="685800" y="278892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Strong on short, keyword-heavy text</a:t>
            </a:r>
            <a:endParaRPr lang="en-US" sz="1300" dirty="0"/>
          </a:p>
        </p:txBody>
      </p:sp>
      <p:sp>
        <p:nvSpPr>
          <p:cNvPr id="14" name="Text 12"/>
          <p:cNvSpPr/>
          <p:nvPr/>
        </p:nvSpPr>
        <p:spPr>
          <a:xfrm>
            <a:off x="685800" y="315468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Simpler production stack</a:t>
            </a:r>
            <a:endParaRPr lang="en-US" sz="1300" dirty="0"/>
          </a:p>
        </p:txBody>
      </p:sp>
      <p:sp>
        <p:nvSpPr>
          <p:cNvPr id="15" name="Text 13"/>
          <p:cNvSpPr/>
          <p:nvPr/>
        </p:nvSpPr>
        <p:spPr>
          <a:xfrm>
            <a:off x="685800" y="352044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Best default for this dataset</a:t>
            </a:r>
            <a:endParaRPr lang="en-US" sz="1300" dirty="0"/>
          </a:p>
        </p:txBody>
      </p:sp>
      <p:sp>
        <p:nvSpPr>
          <p:cNvPr id="16" name="Shape 14"/>
          <p:cNvSpPr/>
          <p:nvPr/>
        </p:nvSpPr>
        <p:spPr>
          <a:xfrm>
            <a:off x="4663440" y="1051560"/>
            <a:ext cx="4023360" cy="3200400"/>
          </a:xfrm>
          <a:prstGeom prst="roundRect">
            <a:avLst>
              <a:gd name="adj" fmla="val 2857"/>
            </a:avLst>
          </a:prstGeom>
          <a:solidFill>
            <a:srgbClr val="FFFFFF"/>
          </a:solidFill>
          <a:ln/>
          <a:effectLst>
            <a:outerShdw sx="100000" sy="100000" kx="0" ky="0" algn="bl" rotWithShape="0" blurRad="76200" dist="12700" dir="16200000">
              <a:srgbClr val="000000">
                <a:alpha val="5000"/>
              </a:srgbClr>
            </a:outerShdw>
          </a:effectLst>
        </p:spPr>
      </p:sp>
      <p:sp>
        <p:nvSpPr>
          <p:cNvPr id="17" name="Shape 15"/>
          <p:cNvSpPr/>
          <p:nvPr/>
        </p:nvSpPr>
        <p:spPr>
          <a:xfrm>
            <a:off x="4663440" y="1051560"/>
            <a:ext cx="4023360" cy="457200"/>
          </a:xfrm>
          <a:prstGeom prst="rect">
            <a:avLst/>
          </a:prstGeom>
          <a:solidFill>
            <a:srgbClr val="1E293B"/>
          </a:solidFill>
          <a:ln/>
        </p:spPr>
      </p:sp>
      <p:sp>
        <p:nvSpPr>
          <p:cNvPr id="18" name="Text 16"/>
          <p:cNvSpPr/>
          <p:nvPr/>
        </p:nvSpPr>
        <p:spPr>
          <a:xfrm>
            <a:off x="4663440" y="1143000"/>
            <a:ext cx="402336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Prefer Deep Learning when…</a:t>
            </a:r>
            <a:endParaRPr lang="en-US" sz="1500" dirty="0"/>
          </a:p>
        </p:txBody>
      </p:sp>
      <p:sp>
        <p:nvSpPr>
          <p:cNvPr id="19" name="Text 17"/>
          <p:cNvSpPr/>
          <p:nvPr/>
        </p:nvSpPr>
        <p:spPr>
          <a:xfrm>
            <a:off x="4892040" y="169164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Longer, noisier real-world reviews</a:t>
            </a:r>
            <a:endParaRPr lang="en-US" sz="1300" dirty="0"/>
          </a:p>
        </p:txBody>
      </p:sp>
      <p:sp>
        <p:nvSpPr>
          <p:cNvPr id="20" name="Text 18"/>
          <p:cNvSpPr/>
          <p:nvPr/>
        </p:nvSpPr>
        <p:spPr>
          <a:xfrm>
            <a:off x="4892040" y="205740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Need context / word order</a:t>
            </a:r>
            <a:endParaRPr lang="en-US" sz="1300" dirty="0"/>
          </a:p>
        </p:txBody>
      </p:sp>
      <p:sp>
        <p:nvSpPr>
          <p:cNvPr id="21" name="Text 19"/>
          <p:cNvSpPr/>
          <p:nvPr/>
        </p:nvSpPr>
        <p:spPr>
          <a:xfrm>
            <a:off x="4892040" y="242316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Plan to add pretrained embeddings</a:t>
            </a:r>
            <a:endParaRPr lang="en-US" sz="1300" dirty="0"/>
          </a:p>
        </p:txBody>
      </p:sp>
      <p:sp>
        <p:nvSpPr>
          <p:cNvPr id="22" name="Text 20"/>
          <p:cNvSpPr/>
          <p:nvPr/>
        </p:nvSpPr>
        <p:spPr>
          <a:xfrm>
            <a:off x="4892040" y="278892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Future move to BERT / transformers</a:t>
            </a:r>
            <a:endParaRPr lang="en-US" sz="1300" dirty="0"/>
          </a:p>
        </p:txBody>
      </p:sp>
      <p:sp>
        <p:nvSpPr>
          <p:cNvPr id="23" name="Text 21"/>
          <p:cNvSpPr/>
          <p:nvPr/>
        </p:nvSpPr>
        <p:spPr>
          <a:xfrm>
            <a:off x="4892040" y="315468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Have GPU and more training data</a:t>
            </a:r>
            <a:endParaRPr lang="en-US" sz="1300" dirty="0"/>
          </a:p>
        </p:txBody>
      </p:sp>
      <p:sp>
        <p:nvSpPr>
          <p:cNvPr id="24" name="Text 22"/>
          <p:cNvSpPr/>
          <p:nvPr/>
        </p:nvSpPr>
        <p:spPr>
          <a:xfrm>
            <a:off x="4892040" y="3520440"/>
            <a:ext cx="3657600" cy="32004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  Sequence modeling is a learning goal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9FC"/>
          </a:solidFill>
          <a:ln/>
        </p:spPr>
      </p:sp>
      <p:sp>
        <p:nvSpPr>
          <p:cNvPr id="3" name="Text 1"/>
          <p:cNvSpPr/>
          <p:nvPr/>
        </p:nvSpPr>
        <p:spPr>
          <a:xfrm>
            <a:off x="457200" y="4800600"/>
            <a:ext cx="6400800" cy="256032"/>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Flipkart Sentiment Analysis  ·  ML + NLP + DL Project</a:t>
            </a:r>
            <a:endParaRPr lang="en-US" sz="1000" dirty="0"/>
          </a:p>
        </p:txBody>
      </p:sp>
      <p:sp>
        <p:nvSpPr>
          <p:cNvPr id="4" name="Text 2"/>
          <p:cNvSpPr/>
          <p:nvPr/>
        </p:nvSpPr>
        <p:spPr>
          <a:xfrm>
            <a:off x="7772400" y="4800600"/>
            <a:ext cx="1097280" cy="256032"/>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13 / 14</a:t>
            </a:r>
            <a:endParaRPr lang="en-US" sz="1000" dirty="0"/>
          </a:p>
        </p:txBody>
      </p:sp>
      <p:sp>
        <p:nvSpPr>
          <p:cNvPr id="5" name="Text 3"/>
          <p:cNvSpPr/>
          <p:nvPr/>
        </p:nvSpPr>
        <p:spPr>
          <a:xfrm>
            <a:off x="457200" y="274320"/>
            <a:ext cx="8229600" cy="256032"/>
          </a:xfrm>
          <a:prstGeom prst="rect">
            <a:avLst/>
          </a:prstGeom>
          <a:noFill/>
          <a:ln/>
        </p:spPr>
        <p:txBody>
          <a:bodyPr wrap="square" lIns="0" tIns="0" rIns="0" bIns="0" rtlCol="0" anchor="ctr"/>
          <a:lstStyle/>
          <a:p>
            <a:pPr indent="0" marL="0">
              <a:buNone/>
            </a:pPr>
            <a:r>
              <a:rPr lang="en-US" sz="1100" spc="200" kern="0" dirty="0">
                <a:solidFill>
                  <a:srgbClr val="3B82F6"/>
                </a:solidFill>
                <a:latin typeface="Arial" pitchFamily="34" charset="0"/>
                <a:ea typeface="Arial" pitchFamily="34" charset="-122"/>
                <a:cs typeface="Arial" pitchFamily="34" charset="-120"/>
              </a:rPr>
              <a:t>DELIVERABLES &amp; DEPLOYMENT</a:t>
            </a:r>
            <a:endParaRPr lang="en-US" sz="1100" dirty="0"/>
          </a:p>
        </p:txBody>
      </p:sp>
      <p:sp>
        <p:nvSpPr>
          <p:cNvPr id="6" name="Text 4"/>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What you can run and share</a:t>
            </a:r>
            <a:endParaRPr lang="en-US" sz="2200" dirty="0"/>
          </a:p>
        </p:txBody>
      </p:sp>
      <p:sp>
        <p:nvSpPr>
          <p:cNvPr id="7" name="Shape 5"/>
          <p:cNvSpPr/>
          <p:nvPr/>
        </p:nvSpPr>
        <p:spPr>
          <a:xfrm>
            <a:off x="457200" y="1051560"/>
            <a:ext cx="4114800" cy="914400"/>
          </a:xfrm>
          <a:prstGeom prst="roundRect">
            <a:avLst>
              <a:gd name="adj" fmla="val 8000"/>
            </a:avLst>
          </a:prstGeom>
          <a:solidFill>
            <a:srgbClr val="FFFFFF"/>
          </a:solidFill>
          <a:ln/>
        </p:spPr>
      </p:sp>
      <p:sp>
        <p:nvSpPr>
          <p:cNvPr id="8" name="Text 6"/>
          <p:cNvSpPr/>
          <p:nvPr/>
        </p:nvSpPr>
        <p:spPr>
          <a:xfrm>
            <a:off x="685800" y="1188720"/>
            <a:ext cx="3657600" cy="27432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Pipeline scripts</a:t>
            </a:r>
            <a:endParaRPr lang="en-US" sz="1400" dirty="0"/>
          </a:p>
        </p:txBody>
      </p:sp>
      <p:sp>
        <p:nvSpPr>
          <p:cNvPr id="9" name="Text 7"/>
          <p:cNvSpPr/>
          <p:nvPr/>
        </p:nvSpPr>
        <p:spPr>
          <a:xfrm>
            <a:off x="685800" y="150876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src/pipeline.py (full Q1–50) + train_dl_light.py</a:t>
            </a:r>
            <a:endParaRPr lang="en-US" sz="1200" dirty="0"/>
          </a:p>
        </p:txBody>
      </p:sp>
      <p:sp>
        <p:nvSpPr>
          <p:cNvPr id="10" name="Shape 8"/>
          <p:cNvSpPr/>
          <p:nvPr/>
        </p:nvSpPr>
        <p:spPr>
          <a:xfrm>
            <a:off x="4754880" y="1051560"/>
            <a:ext cx="4114800" cy="914400"/>
          </a:xfrm>
          <a:prstGeom prst="roundRect">
            <a:avLst>
              <a:gd name="adj" fmla="val 8000"/>
            </a:avLst>
          </a:prstGeom>
          <a:solidFill>
            <a:srgbClr val="FFFFFF"/>
          </a:solidFill>
          <a:ln/>
        </p:spPr>
      </p:sp>
      <p:sp>
        <p:nvSpPr>
          <p:cNvPr id="11" name="Text 9"/>
          <p:cNvSpPr/>
          <p:nvPr/>
        </p:nvSpPr>
        <p:spPr>
          <a:xfrm>
            <a:off x="4983480" y="1188720"/>
            <a:ext cx="3657600" cy="27432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Cleaned data</a:t>
            </a:r>
            <a:endParaRPr lang="en-US" sz="1400" dirty="0"/>
          </a:p>
        </p:txBody>
      </p:sp>
      <p:sp>
        <p:nvSpPr>
          <p:cNvPr id="12" name="Text 10"/>
          <p:cNvSpPr/>
          <p:nvPr/>
        </p:nvSpPr>
        <p:spPr>
          <a:xfrm>
            <a:off x="4983480" y="150876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cleaned_reviews.csv, processed_reviews.csv</a:t>
            </a:r>
            <a:endParaRPr lang="en-US" sz="1200" dirty="0"/>
          </a:p>
        </p:txBody>
      </p:sp>
      <p:sp>
        <p:nvSpPr>
          <p:cNvPr id="13" name="Shape 11"/>
          <p:cNvSpPr/>
          <p:nvPr/>
        </p:nvSpPr>
        <p:spPr>
          <a:xfrm>
            <a:off x="457200" y="2103120"/>
            <a:ext cx="4114800" cy="914400"/>
          </a:xfrm>
          <a:prstGeom prst="roundRect">
            <a:avLst>
              <a:gd name="adj" fmla="val 8000"/>
            </a:avLst>
          </a:prstGeom>
          <a:solidFill>
            <a:srgbClr val="FFFFFF"/>
          </a:solidFill>
          <a:ln/>
        </p:spPr>
      </p:sp>
      <p:sp>
        <p:nvSpPr>
          <p:cNvPr id="14" name="Text 12"/>
          <p:cNvSpPr/>
          <p:nvPr/>
        </p:nvSpPr>
        <p:spPr>
          <a:xfrm>
            <a:off x="685800" y="2240280"/>
            <a:ext cx="3657600" cy="27432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Models</a:t>
            </a:r>
            <a:endParaRPr lang="en-US" sz="1400" dirty="0"/>
          </a:p>
        </p:txBody>
      </p:sp>
      <p:sp>
        <p:nvSpPr>
          <p:cNvPr id="15" name="Text 13"/>
          <p:cNvSpPr/>
          <p:nvPr/>
        </p:nvSpPr>
        <p:spPr>
          <a:xfrm>
            <a:off x="685800" y="256032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best_ml_model.joblib, best_dl_model.keras, vectorizer, tokenizer</a:t>
            </a:r>
            <a:endParaRPr lang="en-US" sz="1200" dirty="0"/>
          </a:p>
        </p:txBody>
      </p:sp>
      <p:sp>
        <p:nvSpPr>
          <p:cNvPr id="16" name="Shape 14"/>
          <p:cNvSpPr/>
          <p:nvPr/>
        </p:nvSpPr>
        <p:spPr>
          <a:xfrm>
            <a:off x="4754880" y="2103120"/>
            <a:ext cx="4114800" cy="914400"/>
          </a:xfrm>
          <a:prstGeom prst="roundRect">
            <a:avLst>
              <a:gd name="adj" fmla="val 8000"/>
            </a:avLst>
          </a:prstGeom>
          <a:solidFill>
            <a:srgbClr val="FFFFFF"/>
          </a:solidFill>
          <a:ln/>
        </p:spPr>
      </p:sp>
      <p:sp>
        <p:nvSpPr>
          <p:cNvPr id="17" name="Text 15"/>
          <p:cNvSpPr/>
          <p:nvPr/>
        </p:nvSpPr>
        <p:spPr>
          <a:xfrm>
            <a:off x="4983480" y="2240280"/>
            <a:ext cx="3657600" cy="27432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EDA plots</a:t>
            </a:r>
            <a:endParaRPr lang="en-US" sz="1400" dirty="0"/>
          </a:p>
        </p:txBody>
      </p:sp>
      <p:sp>
        <p:nvSpPr>
          <p:cNvPr id="18" name="Text 16"/>
          <p:cNvSpPr/>
          <p:nvPr/>
        </p:nvSpPr>
        <p:spPr>
          <a:xfrm>
            <a:off x="4983480" y="256032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14 charts — sentiment, ratings, brands, word freq, CM, history</a:t>
            </a:r>
            <a:endParaRPr lang="en-US" sz="1200" dirty="0"/>
          </a:p>
        </p:txBody>
      </p:sp>
      <p:sp>
        <p:nvSpPr>
          <p:cNvPr id="19" name="Shape 17"/>
          <p:cNvSpPr/>
          <p:nvPr/>
        </p:nvSpPr>
        <p:spPr>
          <a:xfrm>
            <a:off x="457200" y="3154680"/>
            <a:ext cx="4114800" cy="914400"/>
          </a:xfrm>
          <a:prstGeom prst="roundRect">
            <a:avLst>
              <a:gd name="adj" fmla="val 8000"/>
            </a:avLst>
          </a:prstGeom>
          <a:solidFill>
            <a:srgbClr val="FFFFFF"/>
          </a:solidFill>
          <a:ln/>
        </p:spPr>
      </p:sp>
      <p:sp>
        <p:nvSpPr>
          <p:cNvPr id="20" name="Text 18"/>
          <p:cNvSpPr/>
          <p:nvPr/>
        </p:nvSpPr>
        <p:spPr>
          <a:xfrm>
            <a:off x="685800" y="3291840"/>
            <a:ext cx="3657600" cy="27432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Streamlit app</a:t>
            </a:r>
            <a:endParaRPr lang="en-US" sz="1400" dirty="0"/>
          </a:p>
        </p:txBody>
      </p:sp>
      <p:sp>
        <p:nvSpPr>
          <p:cNvPr id="21" name="Text 19"/>
          <p:cNvSpPr/>
          <p:nvPr/>
        </p:nvSpPr>
        <p:spPr>
          <a:xfrm>
            <a:off x="685800" y="361188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app/streamlit_app.py — paste review → sentiment + confidence</a:t>
            </a:r>
            <a:endParaRPr lang="en-US" sz="1200" dirty="0"/>
          </a:p>
        </p:txBody>
      </p:sp>
      <p:sp>
        <p:nvSpPr>
          <p:cNvPr id="22" name="Shape 20"/>
          <p:cNvSpPr/>
          <p:nvPr/>
        </p:nvSpPr>
        <p:spPr>
          <a:xfrm>
            <a:off x="4754880" y="3154680"/>
            <a:ext cx="4114800" cy="914400"/>
          </a:xfrm>
          <a:prstGeom prst="roundRect">
            <a:avLst>
              <a:gd name="adj" fmla="val 8000"/>
            </a:avLst>
          </a:prstGeom>
          <a:solidFill>
            <a:srgbClr val="FFFFFF"/>
          </a:solidFill>
          <a:ln/>
        </p:spPr>
      </p:sp>
      <p:sp>
        <p:nvSpPr>
          <p:cNvPr id="23" name="Text 21"/>
          <p:cNvSpPr/>
          <p:nvPr/>
        </p:nvSpPr>
        <p:spPr>
          <a:xfrm>
            <a:off x="4983480" y="3291840"/>
            <a:ext cx="3657600" cy="274320"/>
          </a:xfrm>
          <a:prstGeom prst="rect">
            <a:avLst/>
          </a:prstGeom>
          <a:noFill/>
          <a:ln/>
        </p:spPr>
        <p:txBody>
          <a:bodyPr wrap="square" lIns="0" tIns="0" rIns="0" bIns="0" rtlCol="0" anchor="ctr"/>
          <a:lstStyle/>
          <a:p>
            <a:pPr indent="0" marL="0">
              <a:buNone/>
            </a:pPr>
            <a:r>
              <a:rPr lang="en-US" sz="1400" b="1" dirty="0">
                <a:solidFill>
                  <a:srgbClr val="3B82F6"/>
                </a:solidFill>
                <a:latin typeface="Arial" pitchFamily="34" charset="0"/>
                <a:ea typeface="Arial" pitchFamily="34" charset="-122"/>
                <a:cs typeface="Arial" pitchFamily="34" charset="-120"/>
              </a:rPr>
              <a:t>Docs</a:t>
            </a:r>
            <a:endParaRPr lang="en-US" sz="1400" dirty="0"/>
          </a:p>
        </p:txBody>
      </p:sp>
      <p:sp>
        <p:nvSpPr>
          <p:cNvPr id="24" name="Text 22"/>
          <p:cNvSpPr/>
          <p:nvPr/>
        </p:nvSpPr>
        <p:spPr>
          <a:xfrm>
            <a:off x="4983480" y="3611880"/>
            <a:ext cx="3657600" cy="32004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README.md, requirements.txt, results CSVs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p:spPr>
      </p:sp>
      <p:sp>
        <p:nvSpPr>
          <p:cNvPr id="3" name="Shape 1"/>
          <p:cNvSpPr/>
          <p:nvPr/>
        </p:nvSpPr>
        <p:spPr>
          <a:xfrm>
            <a:off x="0" y="0"/>
            <a:ext cx="109728" cy="5143500"/>
          </a:xfrm>
          <a:prstGeom prst="rect">
            <a:avLst/>
          </a:prstGeom>
          <a:solidFill>
            <a:srgbClr val="3B82F6"/>
          </a:solidFill>
          <a:ln/>
        </p:spPr>
      </p:sp>
      <p:sp>
        <p:nvSpPr>
          <p:cNvPr id="4" name="Text 2"/>
          <p:cNvSpPr/>
          <p:nvPr/>
        </p:nvSpPr>
        <p:spPr>
          <a:xfrm>
            <a:off x="548640" y="914400"/>
            <a:ext cx="7772400" cy="274320"/>
          </a:xfrm>
          <a:prstGeom prst="rect">
            <a:avLst/>
          </a:prstGeom>
          <a:noFill/>
          <a:ln/>
        </p:spPr>
        <p:txBody>
          <a:bodyPr wrap="square" lIns="0" tIns="0" rIns="0" bIns="0" rtlCol="0" anchor="ctr"/>
          <a:lstStyle/>
          <a:p>
            <a:pPr indent="0" marL="0">
              <a:buNone/>
            </a:pPr>
            <a:r>
              <a:rPr lang="en-US" sz="1200" spc="200" kern="0" dirty="0">
                <a:solidFill>
                  <a:srgbClr val="3B82F6"/>
                </a:solidFill>
                <a:latin typeface="Arial" pitchFamily="34" charset="0"/>
                <a:ea typeface="Arial" pitchFamily="34" charset="-122"/>
                <a:cs typeface="Arial" pitchFamily="34" charset="-120"/>
              </a:rPr>
              <a:t>SUMMARY</a:t>
            </a:r>
            <a:endParaRPr lang="en-US" sz="1200" dirty="0"/>
          </a:p>
        </p:txBody>
      </p:sp>
      <p:sp>
        <p:nvSpPr>
          <p:cNvPr id="5" name="Text 3"/>
          <p:cNvSpPr/>
          <p:nvPr/>
        </p:nvSpPr>
        <p:spPr>
          <a:xfrm>
            <a:off x="548640" y="1280160"/>
            <a:ext cx="7772400" cy="10972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 complete, deployable</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sentiment analysis system</a:t>
            </a:r>
            <a:endParaRPr lang="en-US" sz="28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  Business problem → automated 3-class review classification</a:t>
            </a:r>
            <a:endParaRPr lang="en-US" sz="1400" dirty="0"/>
          </a:p>
        </p:txBody>
      </p:sp>
      <p:sp>
        <p:nvSpPr>
          <p:cNvPr id="7" name="Text 5"/>
          <p:cNvSpPr/>
          <p:nvPr/>
        </p:nvSpPr>
        <p:spPr>
          <a:xfrm>
            <a:off x="548640" y="2971800"/>
            <a:ext cx="8046720" cy="32004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  Full pipeline: clean → EDA → NLP → ML + DL → evaluate → Streamlit</a:t>
            </a:r>
            <a:endParaRPr lang="en-US" sz="1400" dirty="0"/>
          </a:p>
        </p:txBody>
      </p:sp>
      <p:sp>
        <p:nvSpPr>
          <p:cNvPr id="8" name="Text 6"/>
          <p:cNvSpPr/>
          <p:nvPr/>
        </p:nvSpPr>
        <p:spPr>
          <a:xfrm>
            <a:off x="548640" y="3337560"/>
            <a:ext cx="8046720" cy="32004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  Both ML and BiLSTM reach excellent Macro F1 on this data</a:t>
            </a:r>
            <a:endParaRPr lang="en-US" sz="1400" dirty="0"/>
          </a:p>
        </p:txBody>
      </p:sp>
      <p:sp>
        <p:nvSpPr>
          <p:cNvPr id="9" name="Text 7"/>
          <p:cNvSpPr/>
          <p:nvPr/>
        </p:nvSpPr>
        <p:spPr>
          <a:xfrm>
            <a:off x="548640" y="3703320"/>
            <a:ext cx="8046720" cy="32004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  Prefer TF-IDF + LR/SVM for speed; DL for sequence/transfer learning path</a:t>
            </a:r>
            <a:endParaRPr lang="en-US" sz="1400" dirty="0"/>
          </a:p>
        </p:txBody>
      </p:sp>
      <p:sp>
        <p:nvSpPr>
          <p:cNvPr id="10" name="Text 8"/>
          <p:cNvSpPr/>
          <p:nvPr/>
        </p:nvSpPr>
        <p:spPr>
          <a:xfrm>
            <a:off x="548640" y="4297680"/>
            <a:ext cx="7772400" cy="320040"/>
          </a:xfrm>
          <a:prstGeom prst="rect">
            <a:avLst/>
          </a:prstGeom>
          <a:noFill/>
          <a:ln/>
        </p:spPr>
        <p:txBody>
          <a:bodyPr wrap="square" lIns="0" tIns="0" rIns="0" bIns="0" rtlCol="0" anchor="ctr"/>
          <a:lstStyle/>
          <a:p>
            <a:pPr indent="0" marL="0">
              <a:buNone/>
            </a:pPr>
            <a:r>
              <a:rPr lang="en-US" sz="1400" dirty="0">
                <a:solidFill>
                  <a:srgbClr val="3B82F6"/>
                </a:solidFill>
                <a:latin typeface="Arial" pitchFamily="34" charset="0"/>
                <a:ea typeface="Arial" pitchFamily="34" charset="-122"/>
                <a:cs typeface="Arial"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Flipkart Reviews Sentiment Analysis</dc:title>
  <dc:subject>ML + NLP + Deep Learning End-to-End Project</dc:subject>
  <dc:creator>Student Project</dc:creator>
  <cp:lastModifiedBy>Student Project</cp:lastModifiedBy>
  <cp:revision>1</cp:revision>
  <dcterms:created xsi:type="dcterms:W3CDTF">2026-10-05T05:22:03Z</dcterms:created>
  <dcterms:modified xsi:type="dcterms:W3CDTF">2026-10-05T05:22:03Z</dcterms:modified>
</cp:coreProperties>
</file>